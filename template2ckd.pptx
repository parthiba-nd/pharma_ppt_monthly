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6"/>
  </p:notesMasterIdLst>
  <p:sldIdLst>
    <p:sldId id="267" r:id="rId2"/>
    <p:sldId id="270" r:id="rId3"/>
    <p:sldId id="268" r:id="rId4"/>
    <p:sldId id="269" r:id="rId5"/>
  </p:sldIdLst>
  <p:sldSz cx="9144000" cy="5143500" type="screen16x9"/>
  <p:notesSz cx="6858000" cy="9144000"/>
  <p:embeddedFontLst>
    <p:embeddedFont>
      <p:font typeface="Helvetica Neue" panose="020B0604020202020204" charset="0"/>
      <p:regular r:id="rId7"/>
      <p:bold r:id="rId8"/>
      <p:italic r:id="rId9"/>
      <p:boldItalic r:id="rId10"/>
    </p:embeddedFont>
    <p:embeddedFont>
      <p:font typeface="Helvetica Neue Light" panose="020B0604020202020204" charset="0"/>
      <p:regular r:id="rId11"/>
      <p:bold r:id="rId12"/>
      <p:italic r:id="rId13"/>
      <p:boldItalic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79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AA7471-FB8F-49C3-BBA8-1CFF5C3BBDCC}">
  <a:tblStyle styleId="{08AA7471-FB8F-49C3-BBA8-1CFF5C3BBDC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46" y="77"/>
      </p:cViewPr>
      <p:guideLst>
        <p:guide orient="horz" pos="1620"/>
        <p:guide pos="2880"/>
        <p:guide orient="horz" pos="7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CF03E53-727E-8CA3-205B-FC0E1CF0C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44c83cd32_0_21:notes">
            <a:extLst>
              <a:ext uri="{FF2B5EF4-FFF2-40B4-BE49-F238E27FC236}">
                <a16:creationId xmlns:a16="http://schemas.microsoft.com/office/drawing/2014/main" id="{6871DD35-9278-4A04-E297-17183DBBAF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644c83cd32_0_21:notes">
            <a:extLst>
              <a:ext uri="{FF2B5EF4-FFF2-40B4-BE49-F238E27FC236}">
                <a16:creationId xmlns:a16="http://schemas.microsoft.com/office/drawing/2014/main" id="{902076E1-22D3-FAD9-2AEF-2625B1B4C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1054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63bd387c28_0_4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63bd387c28_0_4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c4cacc583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g22c4cacc583_0_23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Helvetica Neue"/>
                <a:ea typeface="Helvetica Neue"/>
                <a:cs typeface="Helvetica Neue"/>
                <a:sym typeface="Helvetica Neue"/>
              </a:rPr>
              <a:t>DON’T FORGET TO SET NEXT STEPS BEFORE LEAVING THE MEETING!</a:t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Sub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666750" y="862013"/>
            <a:ext cx="78105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666750" y="2652713"/>
            <a:ext cx="7810500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Center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666750" y="1700213"/>
            <a:ext cx="78105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Top">
  <p:cSld name="Title - Top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Horizontal">
  <p:cSld name="Photo - Horizontal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>
            <a:spLocks noGrp="1"/>
          </p:cNvSpPr>
          <p:nvPr>
            <p:ph type="pic" idx="2"/>
          </p:nvPr>
        </p:nvSpPr>
        <p:spPr>
          <a:xfrm>
            <a:off x="1171575" y="-14287"/>
            <a:ext cx="6800850" cy="453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title"/>
          </p:nvPr>
        </p:nvSpPr>
        <p:spPr>
          <a:xfrm>
            <a:off x="238125" y="3567113"/>
            <a:ext cx="866775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1"/>
          </p:nvPr>
        </p:nvSpPr>
        <p:spPr>
          <a:xfrm>
            <a:off x="238125" y="4291013"/>
            <a:ext cx="8667750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Vertical">
  <p:cSld name="Photo - Vertical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>
            <a:spLocks noGrp="1"/>
          </p:cNvSpPr>
          <p:nvPr>
            <p:ph type="pic" idx="2"/>
          </p:nvPr>
        </p:nvSpPr>
        <p:spPr>
          <a:xfrm>
            <a:off x="2981325" y="414338"/>
            <a:ext cx="6472238" cy="431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619125" y="357188"/>
            <a:ext cx="3833813" cy="208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619125" y="2447925"/>
            <a:ext cx="3833813" cy="2147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1pPr>
            <a:lvl2pPr marL="914400" lvl="1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2pPr>
            <a:lvl3pPr marL="1371600" lvl="2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3pPr>
            <a:lvl4pPr marL="1828800" lvl="3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4pPr>
            <a:lvl5pPr marL="2286000" lvl="4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Helvetica Neue"/>
              <a:buNone/>
              <a:defRPr sz="20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ullets &amp; Photo">
  <p:cSld name="Title, Bullets &amp; Phot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>
            <a:spLocks noGrp="1"/>
          </p:cNvSpPr>
          <p:nvPr>
            <p:ph type="pic" idx="2"/>
          </p:nvPr>
        </p:nvSpPr>
        <p:spPr>
          <a:xfrm>
            <a:off x="4110038" y="1181100"/>
            <a:ext cx="5229225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3833813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2pPr>
            <a:lvl3pPr marL="1371600" lvl="2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3pPr>
            <a:lvl4pPr marL="1828800" lvl="3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4pPr>
            <a:lvl5pPr marL="2286000" lvl="4" indent="-3429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Char char="•"/>
              <a:defRPr sz="14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s">
  <p:cSld name="Bulle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633413" y="666750"/>
            <a:ext cx="7877175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lvl="0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1pPr>
            <a:lvl2pPr marL="914400" lvl="1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2pPr>
            <a:lvl3pPr marL="1371600" lvl="2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3pPr>
            <a:lvl4pPr marL="1828800" lvl="3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4pPr>
            <a:lvl5pPr marL="2286000" lvl="4" indent="-37465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Helvetica Neue"/>
              <a:buChar char="•"/>
              <a:defRPr sz="1800"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- 3 Up">
  <p:cSld name="Photo - 3 Up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>
            <a:spLocks noGrp="1"/>
          </p:cNvSpPr>
          <p:nvPr>
            <p:ph type="pic" idx="2"/>
          </p:nvPr>
        </p:nvSpPr>
        <p:spPr>
          <a:xfrm>
            <a:off x="5880503" y="2638425"/>
            <a:ext cx="3148754" cy="210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10"/>
          <p:cNvSpPr>
            <a:spLocks noGrp="1"/>
          </p:cNvSpPr>
          <p:nvPr>
            <p:ph type="pic" idx="3"/>
          </p:nvPr>
        </p:nvSpPr>
        <p:spPr>
          <a:xfrm>
            <a:off x="5734050" y="423863"/>
            <a:ext cx="3124200" cy="208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10"/>
          <p:cNvSpPr>
            <a:spLocks noGrp="1"/>
          </p:cNvSpPr>
          <p:nvPr>
            <p:ph type="pic" idx="4"/>
          </p:nvPr>
        </p:nvSpPr>
        <p:spPr>
          <a:xfrm>
            <a:off x="-114300" y="423863"/>
            <a:ext cx="6450806" cy="430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895350" y="3357563"/>
            <a:ext cx="7358063" cy="219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"/>
              <a:buNone/>
              <a:defRPr sz="1200" i="1"/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2"/>
          </p:nvPr>
        </p:nvSpPr>
        <p:spPr>
          <a:xfrm>
            <a:off x="895350" y="2278856"/>
            <a:ext cx="7358063" cy="309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18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2pPr>
            <a:lvl3pPr marL="1371600" lvl="2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3pPr>
            <a:lvl4pPr marL="1828800" lvl="3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4pPr>
            <a:lvl5pPr marL="2286000" lvl="4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5pPr>
            <a:lvl6pPr marL="2743200" lvl="5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6pPr>
            <a:lvl7pPr marL="3200400" lvl="6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7pPr>
            <a:lvl8pPr marL="3657600" lvl="7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8pPr>
            <a:lvl9pPr marL="4114800" lvl="8" indent="-279400" algn="l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">
  <p:cSld name="Phot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09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17150" rIns="34275" bIns="171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 1">
  <p:cSld name="BLANK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spcFirstLastPara="1" wrap="square" lIns="19050" tIns="19050" rIns="19050" bIns="19050" anchor="t" anchorCtr="0">
            <a:sp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E9E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33413" y="133350"/>
            <a:ext cx="78771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Helvetica Neue"/>
              <a:buNone/>
              <a:defRPr sz="4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33413" y="1181100"/>
            <a:ext cx="7877175" cy="3486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Char char="•"/>
              <a:defRPr sz="20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484637" y="4905375"/>
            <a:ext cx="169964" cy="172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kddashboard.neodocs.in/daily_overvie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linic.neodocs.in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name@email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54;p24">
            <a:extLst>
              <a:ext uri="{FF2B5EF4-FFF2-40B4-BE49-F238E27FC236}">
                <a16:creationId xmlns:a16="http://schemas.microsoft.com/office/drawing/2014/main" id="{B69B25A1-A05C-E6CF-B098-3CD9FB1AE39E}"/>
              </a:ext>
            </a:extLst>
          </p:cNvPr>
          <p:cNvSpPr txBox="1">
            <a:spLocks/>
          </p:cNvSpPr>
          <p:nvPr/>
        </p:nvSpPr>
        <p:spPr>
          <a:xfrm>
            <a:off x="929199" y="1439916"/>
            <a:ext cx="7285602" cy="16962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700" b="1"/>
              <a:t>For more insights, login here:</a:t>
            </a:r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3700" u="sng">
                <a:solidFill>
                  <a:schemeClr val="hlink"/>
                </a:solidFill>
                <a:hlinkClick r:id="rId3"/>
              </a:rPr>
              <a:t>https://ckddashboard.neodocs.in/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8">
          <a:extLst>
            <a:ext uri="{FF2B5EF4-FFF2-40B4-BE49-F238E27FC236}">
              <a16:creationId xmlns:a16="http://schemas.microsoft.com/office/drawing/2014/main" id="{357A30F0-EA41-57B2-42C3-A6B3CE67F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>
            <a:extLst>
              <a:ext uri="{FF2B5EF4-FFF2-40B4-BE49-F238E27FC236}">
                <a16:creationId xmlns:a16="http://schemas.microsoft.com/office/drawing/2014/main" id="{1B3D3489-FF61-E0A4-036A-C329D9A27680}"/>
              </a:ext>
            </a:extLst>
          </p:cNvPr>
          <p:cNvSpPr txBox="1"/>
          <p:nvPr/>
        </p:nvSpPr>
        <p:spPr>
          <a:xfrm>
            <a:off x="80550" y="77750"/>
            <a:ext cx="7073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B5394"/>
                </a:solidFill>
              </a:rPr>
              <a:t>Doctor / Clinic Dashboard </a:t>
            </a:r>
            <a:endParaRPr sz="2100">
              <a:solidFill>
                <a:srgbClr val="0B5394"/>
              </a:solidFill>
            </a:endParaRPr>
          </a:p>
        </p:txBody>
      </p:sp>
      <p:sp>
        <p:nvSpPr>
          <p:cNvPr id="180" name="Google Shape;180;p39">
            <a:extLst>
              <a:ext uri="{FF2B5EF4-FFF2-40B4-BE49-F238E27FC236}">
                <a16:creationId xmlns:a16="http://schemas.microsoft.com/office/drawing/2014/main" id="{8857933E-177D-AA52-8B55-2E3546A414C7}"/>
              </a:ext>
            </a:extLst>
          </p:cNvPr>
          <p:cNvSpPr txBox="1"/>
          <p:nvPr/>
        </p:nvSpPr>
        <p:spPr>
          <a:xfrm>
            <a:off x="439750" y="619300"/>
            <a:ext cx="80565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39">
            <a:extLst>
              <a:ext uri="{FF2B5EF4-FFF2-40B4-BE49-F238E27FC236}">
                <a16:creationId xmlns:a16="http://schemas.microsoft.com/office/drawing/2014/main" id="{7EA30656-6539-BB25-13CD-BA574EF710E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00" y="672125"/>
            <a:ext cx="6131871" cy="3479118"/>
          </a:xfrm>
          <a:prstGeom prst="rect">
            <a:avLst/>
          </a:prstGeom>
          <a:noFill/>
          <a:ln w="9525" cap="flat" cmpd="sng">
            <a:solidFill>
              <a:srgbClr val="151F5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82" name="Google Shape;182;p39">
            <a:extLst>
              <a:ext uri="{FF2B5EF4-FFF2-40B4-BE49-F238E27FC236}">
                <a16:creationId xmlns:a16="http://schemas.microsoft.com/office/drawing/2014/main" id="{36346B32-88CC-6AE5-80C5-40DF336ACE87}"/>
              </a:ext>
            </a:extLst>
          </p:cNvPr>
          <p:cNvSpPr txBox="1"/>
          <p:nvPr/>
        </p:nvSpPr>
        <p:spPr>
          <a:xfrm>
            <a:off x="6363850" y="672125"/>
            <a:ext cx="2667600" cy="3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Doctors can login on laptop / desktop for easy access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Can view, print and download report 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Clinic level Kdigo Map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Clinic Users (doctor or staff) info 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Multi-organization access function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Verdana"/>
              <a:buChar char="●"/>
            </a:pPr>
            <a:r>
              <a:rPr lang="en" sz="1100">
                <a:latin typeface="Verdana"/>
                <a:ea typeface="Verdana"/>
                <a:cs typeface="Verdana"/>
                <a:sym typeface="Verdana"/>
              </a:rPr>
              <a:t>Data filter by age, gender, date, ACR etc.</a:t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39">
            <a:extLst>
              <a:ext uri="{FF2B5EF4-FFF2-40B4-BE49-F238E27FC236}">
                <a16:creationId xmlns:a16="http://schemas.microsoft.com/office/drawing/2014/main" id="{EE479E83-C8A0-3DF3-406D-1E3F5929A47A}"/>
              </a:ext>
            </a:extLst>
          </p:cNvPr>
          <p:cNvSpPr txBox="1"/>
          <p:nvPr/>
        </p:nvSpPr>
        <p:spPr>
          <a:xfrm>
            <a:off x="1752338" y="44426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https://clinic.neodocs.in/</a:t>
            </a:r>
            <a:r>
              <a:rPr lang="en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21426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0"/>
          <p:cNvSpPr txBox="1"/>
          <p:nvPr/>
        </p:nvSpPr>
        <p:spPr>
          <a:xfrm>
            <a:off x="80550" y="77750"/>
            <a:ext cx="70737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B5394"/>
                </a:solidFill>
              </a:rPr>
              <a:t>Features: Dr-NeoDocs App Dashboard</a:t>
            </a:r>
            <a:endParaRPr sz="2100">
              <a:solidFill>
                <a:srgbClr val="0B5394"/>
              </a:solidFill>
            </a:endParaRPr>
          </a:p>
        </p:txBody>
      </p:sp>
      <p:grpSp>
        <p:nvGrpSpPr>
          <p:cNvPr id="189" name="Google Shape;189;p40"/>
          <p:cNvGrpSpPr/>
          <p:nvPr/>
        </p:nvGrpSpPr>
        <p:grpSpPr>
          <a:xfrm>
            <a:off x="4600825" y="585650"/>
            <a:ext cx="4081488" cy="4253051"/>
            <a:chOff x="152400" y="738050"/>
            <a:chExt cx="4081488" cy="4253051"/>
          </a:xfrm>
        </p:grpSpPr>
        <p:pic>
          <p:nvPicPr>
            <p:cNvPr id="190" name="Google Shape;19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0F0C67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269344" y="738050"/>
              <a:ext cx="1964544" cy="4253051"/>
            </a:xfrm>
            <a:prstGeom prst="rect">
              <a:avLst/>
            </a:prstGeom>
            <a:noFill/>
            <a:ln w="9525" cap="flat" cmpd="sng">
              <a:solidFill>
                <a:srgbClr val="151F5B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92" name="Google Shape;192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1490" y="585650"/>
            <a:ext cx="1964535" cy="4253051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3" name="Google Shape;193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2175" y="585663"/>
            <a:ext cx="1964525" cy="4253020"/>
          </a:xfrm>
          <a:prstGeom prst="rect">
            <a:avLst/>
          </a:prstGeom>
          <a:noFill/>
          <a:ln w="9525" cap="flat" cmpd="sng">
            <a:solidFill>
              <a:srgbClr val="0F0C67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1"/>
          <p:cNvSpPr txBox="1">
            <a:spLocks noGrp="1"/>
          </p:cNvSpPr>
          <p:nvPr>
            <p:ph type="title"/>
          </p:nvPr>
        </p:nvSpPr>
        <p:spPr>
          <a:xfrm>
            <a:off x="666750" y="1679694"/>
            <a:ext cx="7810500" cy="17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b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</a:pPr>
            <a:r>
              <a:rPr lang="en" sz="5600" b="1" i="0" u="none" strike="noStrike" cap="none">
                <a:solidFill>
                  <a:srgbClr val="0B539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</a:t>
            </a:r>
            <a:endParaRPr sz="500">
              <a:solidFill>
                <a:srgbClr val="0B5394"/>
              </a:solidFill>
            </a:endParaRPr>
          </a:p>
        </p:txBody>
      </p:sp>
      <p:sp>
        <p:nvSpPr>
          <p:cNvPr id="199" name="Google Shape;199;p41"/>
          <p:cNvSpPr txBox="1"/>
          <p:nvPr/>
        </p:nvSpPr>
        <p:spPr>
          <a:xfrm>
            <a:off x="1698211" y="3890838"/>
            <a:ext cx="5747700" cy="8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Helvetica Neue"/>
              <a:buNone/>
            </a:pPr>
            <a:endParaRPr sz="3800" b="0" i="0" u="sng" strike="noStrike" cap="none">
              <a:solidFill>
                <a:schemeClr val="hlink"/>
              </a:solidFill>
              <a:latin typeface="Helvetica Neue"/>
              <a:ea typeface="Helvetica Neue"/>
              <a:cs typeface="Helvetica Neue"/>
              <a:sym typeface="Helvetica Neue"/>
              <a:hlinkClick r:id="rId3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2988" y="718375"/>
            <a:ext cx="5692025" cy="139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1"/>
          <p:cNvSpPr txBox="1">
            <a:spLocks noGrp="1"/>
          </p:cNvSpPr>
          <p:nvPr>
            <p:ph type="body" idx="1"/>
          </p:nvPr>
        </p:nvSpPr>
        <p:spPr>
          <a:xfrm>
            <a:off x="1698200" y="3814650"/>
            <a:ext cx="6154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r>
              <a:rPr lang="en" sz="1400">
                <a:solidFill>
                  <a:srgbClr val="212121"/>
                </a:solidFill>
              </a:rPr>
              <a:t>Contact Us: </a:t>
            </a:r>
            <a:endParaRPr sz="1400">
              <a:solidFill>
                <a:srgbClr val="21212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endParaRPr sz="1400">
              <a:solidFill>
                <a:srgbClr val="212121"/>
              </a:solidFill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r>
              <a:rPr lang="en" sz="1400">
                <a:solidFill>
                  <a:srgbClr val="212121"/>
                </a:solidFill>
              </a:rPr>
              <a:t>Rajendra Bhaskar +91 99873 39111</a:t>
            </a:r>
            <a:endParaRPr sz="1400">
              <a:solidFill>
                <a:srgbClr val="21212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800"/>
              <a:buFont typeface="Helvetica Neue"/>
              <a:buNone/>
            </a:pPr>
            <a:endParaRPr sz="1400">
              <a:solidFill>
                <a:srgbClr val="21212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99</Words>
  <Application>Microsoft Office PowerPoint</Application>
  <PresentationFormat>On-screen Show (16:9)</PresentationFormat>
  <Paragraphs>18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Helvetica Neue Light</vt:lpstr>
      <vt:lpstr>Helvetica Neue</vt:lpstr>
      <vt:lpstr>Verdana</vt:lpstr>
      <vt:lpstr>Arial</vt:lpstr>
      <vt:lpstr>White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PARTHIBA MUKHOPADHYAY</cp:lastModifiedBy>
  <cp:revision>5</cp:revision>
  <dcterms:modified xsi:type="dcterms:W3CDTF">2025-11-27T06:09:41Z</dcterms:modified>
</cp:coreProperties>
</file>