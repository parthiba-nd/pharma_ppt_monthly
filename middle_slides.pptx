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202020"/>
                </a:solidFill>
              </a:defRPr>
            </a:pPr>
            <a:r>
              <a:t>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1005840"/>
            <a:ext cx="3657600" cy="73152"/>
          </a:xfrm>
          <a:prstGeom prst="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787878"/>
                </a:solidFill>
              </a:defRPr>
            </a:pPr>
            <a:r>
              <a:t>High-level summary of testing performance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0" y="1965960"/>
            <a:ext cx="2743200" cy="1417320"/>
          </a:xfrm>
          <a:prstGeom prst="roundRect">
            <a:avLst/>
          </a:prstGeom>
          <a:solidFill>
            <a:srgbClr val="E4F8F8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20040" y="2240280"/>
            <a:ext cx="320040" cy="320040"/>
          </a:xfrm>
          <a:prstGeom prst="ellipse">
            <a:avLst/>
          </a:prstGeom>
          <a:noFill/>
          <a:ln w="25400">
            <a:solidFill>
              <a:srgbClr val="10A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1783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787878"/>
                </a:solidFill>
              </a:defRPr>
            </a:pPr>
            <a:r>
              <a:t>Total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5176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202020"/>
                </a:solidFill>
              </a:defRPr>
            </a:pPr>
            <a:r>
              <a:t>25,963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965960"/>
            <a:ext cx="2743200" cy="1417320"/>
          </a:xfrm>
          <a:prstGeom prst="roundRect">
            <a:avLst/>
          </a:prstGeom>
          <a:solidFill>
            <a:srgbClr val="E4F8F8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20440" y="2240280"/>
            <a:ext cx="320040" cy="320040"/>
          </a:xfrm>
          <a:prstGeom prst="ellipse">
            <a:avLst/>
          </a:prstGeom>
          <a:noFill/>
          <a:ln w="25400">
            <a:solidFill>
              <a:srgbClr val="10A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40" y="2194560"/>
            <a:ext cx="1783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787878"/>
                </a:solidFill>
              </a:defRPr>
            </a:pPr>
            <a:r>
              <a:t>Total Camps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65176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202020"/>
                </a:solidFill>
              </a:defRPr>
            </a:pPr>
            <a:r>
              <a:t>5,892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965960"/>
            <a:ext cx="2743200" cy="1417320"/>
          </a:xfrm>
          <a:prstGeom prst="roundRect">
            <a:avLst/>
          </a:prstGeom>
          <a:solidFill>
            <a:srgbClr val="E4F8F8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20840" y="2240280"/>
            <a:ext cx="320040" cy="320040"/>
          </a:xfrm>
          <a:prstGeom prst="ellipse">
            <a:avLst/>
          </a:prstGeom>
          <a:noFill/>
          <a:ln w="25400">
            <a:solidFill>
              <a:srgbClr val="10A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78040" y="2194560"/>
            <a:ext cx="1783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787878"/>
                </a:solidFill>
              </a:defRPr>
            </a:pPr>
            <a:r>
              <a:t>Total Doctors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65176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202020"/>
                </a:solidFill>
              </a:defRPr>
            </a:pPr>
            <a:r>
              <a:t>1,011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00200" y="3886200"/>
            <a:ext cx="2743200" cy="1417320"/>
          </a:xfrm>
          <a:prstGeom prst="roundRect">
            <a:avLst/>
          </a:prstGeom>
          <a:solidFill>
            <a:srgbClr val="E4F8F8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920240" y="4160520"/>
            <a:ext cx="320040" cy="320040"/>
          </a:xfrm>
          <a:prstGeom prst="ellipse">
            <a:avLst/>
          </a:prstGeom>
          <a:noFill/>
          <a:ln w="25400">
            <a:solidFill>
              <a:srgbClr val="10A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4114800"/>
            <a:ext cx="1783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787878"/>
                </a:solidFill>
              </a:defRPr>
            </a:pPr>
            <a:r>
              <a:t>A2+A3 Abnormality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57200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202020"/>
                </a:solidFill>
              </a:defRPr>
            </a:pPr>
            <a:r>
              <a:t>34.0%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0" y="3886200"/>
            <a:ext cx="2743200" cy="1417320"/>
          </a:xfrm>
          <a:prstGeom prst="roundRect">
            <a:avLst/>
          </a:prstGeom>
          <a:solidFill>
            <a:srgbClr val="E4F8F8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120640" y="4160520"/>
            <a:ext cx="320040" cy="320040"/>
          </a:xfrm>
          <a:prstGeom prst="ellipse">
            <a:avLst/>
          </a:prstGeom>
          <a:noFill/>
          <a:ln w="25400">
            <a:solidFill>
              <a:srgbClr val="10A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77840" y="4114800"/>
            <a:ext cx="1783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787878"/>
                </a:solidFill>
              </a:defRPr>
            </a:pPr>
            <a:r>
              <a:t>States Covered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457200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202020"/>
                </a:solidFill>
              </a:defRPr>
            </a:pPr>
            <a: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787878"/>
                </a:solidFill>
              </a:defRPr>
            </a:pPr>
            <a:r>
              <a:t>Neodocs YCS21 • Confidential • Pharma Insights Report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53796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7878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02020"/>
                </a:solidFill>
              </a:defRPr>
            </a:pPr>
            <a:r>
              <a:t>Statewise Testing (Till October 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914400"/>
            <a:ext cx="4572000" cy="64008"/>
          </a:xfrm>
          <a:prstGeom prst="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274320" y="1005840"/>
            <a:ext cx="10241280" cy="5336178"/>
          </a:xfrm>
          <a:prstGeom prst="roundRect">
            <a:avLst/>
          </a:prstGeom>
          <a:solidFill>
            <a:srgbClr val="FCFDFD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" y="1371600"/>
          <a:ext cx="9532803" cy="4696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6777"/>
                <a:gridCol w="1234440"/>
                <a:gridCol w="1234440"/>
                <a:gridCol w="1088502"/>
                <a:gridCol w="1088502"/>
                <a:gridCol w="1088502"/>
                <a:gridCol w="1691640"/>
              </a:tblGrid>
              <a:tr h="365760"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State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Total Tests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Total Camps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A1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A2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A3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Abnormality %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Tamil Nadu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5159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1421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3299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1177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683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37.74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Maharashtra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4381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1085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3247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692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442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28.19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West Bengal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3883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482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2555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766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562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36.85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Telangana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3013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469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2199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600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214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30.17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Delhi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2882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719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1779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704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399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40.8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Gujarat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1844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434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1194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393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257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35.95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Karnataka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875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152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639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139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97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30.4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Chhattisgarh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651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531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23.2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Punjab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584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196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405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30.65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Uttar Pradesh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523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94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331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117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38.62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Madhya Pradesh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501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119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394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23.95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Kerala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110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215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30.82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333114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Andhra Pradesh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240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123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138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42.92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938443" y="1849047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38443" y="1849047"/>
            <a:ext cx="241566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38443" y="2182149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38443" y="2182149"/>
            <a:ext cx="180438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38443" y="251525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38443" y="2515251"/>
            <a:ext cx="235869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938443" y="2848353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38443" y="2848353"/>
            <a:ext cx="193112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38443" y="3181455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38443" y="3181455"/>
            <a:ext cx="261152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38443" y="3514557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38443" y="3514557"/>
            <a:ext cx="230108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38443" y="3847659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38443" y="3847659"/>
            <a:ext cx="194584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38443" y="418076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938443" y="4180761"/>
            <a:ext cx="148498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38443" y="4513863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38443" y="4513863"/>
            <a:ext cx="196184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38443" y="4846965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38443" y="4846965"/>
            <a:ext cx="247198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38443" y="5180067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938443" y="5180067"/>
            <a:ext cx="153299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938443" y="5513169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38443" y="5513169"/>
            <a:ext cx="197272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938443" y="5846277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38443" y="5846277"/>
            <a:ext cx="274722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787878"/>
                </a:solidFill>
              </a:defRPr>
            </a:pPr>
            <a:r>
              <a:t>Neodocs YCS21 • Confidential • Pharma Insights 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53796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7878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02020"/>
                </a:solidFill>
              </a:defRPr>
            </a:pPr>
            <a:r>
              <a:t>Speciality Wise Testing (Till October 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914400"/>
            <a:ext cx="4572000" cy="64008"/>
          </a:xfrm>
          <a:prstGeom prst="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274320" y="1005840"/>
            <a:ext cx="10241280" cy="5086350"/>
          </a:xfrm>
          <a:prstGeom prst="roundRect">
            <a:avLst/>
          </a:prstGeom>
          <a:solidFill>
            <a:srgbClr val="FCFDFD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" y="1371600"/>
          <a:ext cx="9532803" cy="4446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6777"/>
                <a:gridCol w="1234440"/>
                <a:gridCol w="1234440"/>
                <a:gridCol w="1088502"/>
                <a:gridCol w="1088502"/>
                <a:gridCol w="1088502"/>
                <a:gridCol w="1691640"/>
              </a:tblGrid>
              <a:tr h="365760"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Specialization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Total Tests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Total Camps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A1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A2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A3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Abnormality %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</a:tr>
              <a:tr h="58293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Diabetologist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7368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1700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5317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1345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706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29.97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58293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General Physician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5554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1115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3796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1200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558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33.54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58293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Internal Medicine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3745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819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2324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919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502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39.2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58293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Endocrinologist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3174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672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2311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547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316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30.69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58293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Others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2332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661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1643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388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33.75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58293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Nephrologist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2169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477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1215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403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551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46.01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58293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Cardiologist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1617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446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1088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349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180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33.7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938443" y="197396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38443" y="1973961"/>
            <a:ext cx="191831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38443" y="255689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38443" y="2556891"/>
            <a:ext cx="214682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38443" y="313982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38443" y="3139821"/>
            <a:ext cx="250911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938443" y="372275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38443" y="3722751"/>
            <a:ext cx="196440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38443" y="430568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38443" y="4305681"/>
            <a:ext cx="216027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38443" y="488861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38443" y="4888611"/>
            <a:ext cx="294500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38443" y="547154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38443" y="5471541"/>
            <a:ext cx="215706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787878"/>
                </a:solidFill>
              </a:defRPr>
            </a:pPr>
            <a:r>
              <a:t>Neodocs YCS21 • Confidential • Pharma Insights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53796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7878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02020"/>
                </a:solidFill>
              </a:defRPr>
            </a:pPr>
            <a:r>
              <a:t>Age Group Testing (Till October 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914400"/>
            <a:ext cx="4572000" cy="64008"/>
          </a:xfrm>
          <a:prstGeom prst="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274320" y="1005840"/>
            <a:ext cx="10241280" cy="5151120"/>
          </a:xfrm>
          <a:prstGeom prst="roundRect">
            <a:avLst/>
          </a:prstGeom>
          <a:solidFill>
            <a:srgbClr val="FCFDFD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" y="1371600"/>
          <a:ext cx="9532803" cy="451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6777"/>
                <a:gridCol w="1234440"/>
                <a:gridCol w="1234440"/>
                <a:gridCol w="1088502"/>
                <a:gridCol w="1088502"/>
                <a:gridCol w="1088502"/>
                <a:gridCol w="1691640"/>
              </a:tblGrid>
              <a:tr h="365760"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Age Group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Total Tests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Total Camps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A1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A2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A3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Abnormality %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</a:tr>
              <a:tr h="51816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&lt;30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1781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1151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1281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197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30.54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51816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30-40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2826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1602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2078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483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265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29.09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51816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40-50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4917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2369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3561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877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479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29.94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51816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50-60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6911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2869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4764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1384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763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33.31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51816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60-70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6080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2850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3928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1287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865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37.57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51816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70-80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2868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1775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1762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662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444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40.41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51816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80-90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546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453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296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152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98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46.52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51816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&gt;90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34.48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938443" y="194157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38443" y="1941576"/>
            <a:ext cx="195480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38443" y="245973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38443" y="2459736"/>
            <a:ext cx="186199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38443" y="297789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38443" y="2977896"/>
            <a:ext cx="191639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938443" y="349605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38443" y="3496056"/>
            <a:ext cx="213210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38443" y="401421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38443" y="4014216"/>
            <a:ext cx="240478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38443" y="453237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38443" y="4532376"/>
            <a:ext cx="258656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38443" y="505053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38443" y="5050536"/>
            <a:ext cx="297765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38443" y="556869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938443" y="5568696"/>
            <a:ext cx="220699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787878"/>
                </a:solidFill>
              </a:defRPr>
            </a:pPr>
            <a:r>
              <a:t>Neodocs YCS21 • Confidential • Pharma Insights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53796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7878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02020"/>
                </a:solidFill>
              </a:defRPr>
            </a:pPr>
            <a:r>
              <a:t>Genderwise Testing (Till October 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914400"/>
            <a:ext cx="4572000" cy="64008"/>
          </a:xfrm>
          <a:prstGeom prst="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274320" y="1005840"/>
            <a:ext cx="10241280" cy="4114800"/>
          </a:xfrm>
          <a:prstGeom prst="roundRect">
            <a:avLst/>
          </a:prstGeom>
          <a:solidFill>
            <a:srgbClr val="FCFDFD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" y="1371600"/>
          <a:ext cx="9532803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6777"/>
                <a:gridCol w="1234440"/>
                <a:gridCol w="1234440"/>
                <a:gridCol w="1088502"/>
                <a:gridCol w="1088502"/>
                <a:gridCol w="1088502"/>
                <a:gridCol w="1691640"/>
              </a:tblGrid>
              <a:tr h="365760"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Gender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Total Tests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Total Camps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A1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A2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A3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Abnormality %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</a:tr>
              <a:tr h="155448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Male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15005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4653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10083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3077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1845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34.9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155448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Female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10958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3822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7611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2077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1270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32.95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938443" y="245973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38443" y="2459736"/>
            <a:ext cx="223387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38443" y="401421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38443" y="4014216"/>
            <a:ext cx="210906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787878"/>
                </a:solidFill>
              </a:defRPr>
            </a:pPr>
            <a:r>
              <a:t>Neodocs YCS21 • Confidential • Pharma Insights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53796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7878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9748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202020"/>
                </a:solidFill>
              </a:defRPr>
            </a:pPr>
            <a:r>
              <a:t>October 2025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520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787878"/>
                </a:solidFill>
              </a:defRPr>
            </a:pPr>
            <a:r>
              <a:t>2025-10-01 to 2025-10-31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4251960"/>
            <a:ext cx="3657600" cy="73152"/>
          </a:xfrm>
          <a:prstGeom prst="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787878"/>
                </a:solidFill>
              </a:defRPr>
            </a:pPr>
            <a:r>
              <a:t>Neodocs YCS21 • Confidential • Pharma Insights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53796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7878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02020"/>
                </a:solidFill>
              </a:defRPr>
            </a:pPr>
            <a:r>
              <a:t>Statewise Testing (October 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914400"/>
            <a:ext cx="4572000" cy="64008"/>
          </a:xfrm>
          <a:prstGeom prst="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274320" y="1005840"/>
            <a:ext cx="10241280" cy="5336178"/>
          </a:xfrm>
          <a:prstGeom prst="roundRect">
            <a:avLst/>
          </a:prstGeom>
          <a:solidFill>
            <a:srgbClr val="FCFDFD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" y="1371600"/>
          <a:ext cx="9532803" cy="4696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6777"/>
                <a:gridCol w="1234440"/>
                <a:gridCol w="1234440"/>
                <a:gridCol w="1088502"/>
                <a:gridCol w="1088502"/>
                <a:gridCol w="1088502"/>
                <a:gridCol w="1691640"/>
              </a:tblGrid>
              <a:tr h="365760"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State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Total Tests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Total Camps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A1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A2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A3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Abnormality %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Tamil Nadu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579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126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342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179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40.93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Maharashtra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221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78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152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31.22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Gujarat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141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43.97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Punjab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122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91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25.41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West Bengal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118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35.59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Telangana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24.76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Uttar Pradesh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46.05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Delhi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44.44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Chhattisgarh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32.0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Karnataka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15.0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Rajasthan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28.57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333102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Goa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31.82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333114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Kerala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22.73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938443" y="1849047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38443" y="1849047"/>
            <a:ext cx="261984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38443" y="2182149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38443" y="2182149"/>
            <a:ext cx="199832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38443" y="251525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38443" y="2515251"/>
            <a:ext cx="281443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938443" y="2848353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38443" y="2848353"/>
            <a:ext cx="162644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38443" y="3181455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38443" y="3181455"/>
            <a:ext cx="227804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38443" y="3514557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38443" y="3514557"/>
            <a:ext cx="158483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38443" y="3847659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38443" y="3847659"/>
            <a:ext cx="294756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38443" y="418076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938443" y="4180761"/>
            <a:ext cx="284451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38443" y="4513863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38443" y="4513863"/>
            <a:ext cx="204825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38443" y="4846965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38443" y="4846965"/>
            <a:ext cx="96012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38443" y="5180067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938443" y="5180067"/>
            <a:ext cx="182870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938443" y="5513169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38443" y="5513169"/>
            <a:ext cx="203673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938443" y="5846277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38443" y="5846277"/>
            <a:ext cx="145490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787878"/>
                </a:solidFill>
              </a:defRPr>
            </a:pPr>
            <a:r>
              <a:t>Neodocs YCS21 • Confidential • Pharma Insights 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53796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7878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02020"/>
                </a:solidFill>
              </a:defRPr>
            </a:pPr>
            <a:r>
              <a:t>Speciality Wise Testing (October 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914400"/>
            <a:ext cx="4572000" cy="64008"/>
          </a:xfrm>
          <a:prstGeom prst="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274320" y="1005840"/>
            <a:ext cx="10241280" cy="5151120"/>
          </a:xfrm>
          <a:prstGeom prst="roundRect">
            <a:avLst/>
          </a:prstGeom>
          <a:solidFill>
            <a:srgbClr val="FCFDFD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" y="1371600"/>
          <a:ext cx="9532803" cy="451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6777"/>
                <a:gridCol w="1234440"/>
                <a:gridCol w="1234440"/>
                <a:gridCol w="1088502"/>
                <a:gridCol w="1088502"/>
                <a:gridCol w="1088502"/>
                <a:gridCol w="1691640"/>
              </a:tblGrid>
              <a:tr h="365760"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Specialization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Total Tests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Total Camps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A1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A2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A3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Abnormality %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</a:tr>
              <a:tr h="51816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Diabetologist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503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144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368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26.84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51816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Internal Medicine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376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184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141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51.06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51816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General Physician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297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193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35.02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51816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Endocrinologist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169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117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30.77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51816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Nephrologist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47.57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51816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Not Known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94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32.98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51816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Cardiologist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28.57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51816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Others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24.24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938443" y="194157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38443" y="1941576"/>
            <a:ext cx="171797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38443" y="245973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38443" y="2459736"/>
            <a:ext cx="326824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38443" y="297789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38443" y="2977896"/>
            <a:ext cx="224156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938443" y="349605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38443" y="3496056"/>
            <a:ext cx="196952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38443" y="401421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38443" y="4014216"/>
            <a:ext cx="304486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38443" y="453237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38443" y="4532376"/>
            <a:ext cx="211098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38443" y="505053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38443" y="5050536"/>
            <a:ext cx="182870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38443" y="556869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938443" y="5568696"/>
            <a:ext cx="155155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787878"/>
                </a:solidFill>
              </a:defRPr>
            </a:pPr>
            <a:r>
              <a:t>Neodocs YCS21 • Confidential • Pharma Insights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53796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7878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02020"/>
                </a:solidFill>
              </a:defRPr>
            </a:pPr>
            <a:r>
              <a:t>Age Group Testing (October 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914400"/>
            <a:ext cx="4572000" cy="64008"/>
          </a:xfrm>
          <a:prstGeom prst="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274320" y="1005840"/>
            <a:ext cx="10241280" cy="5086350"/>
          </a:xfrm>
          <a:prstGeom prst="roundRect">
            <a:avLst/>
          </a:prstGeom>
          <a:solidFill>
            <a:srgbClr val="FCFDFD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" y="1371600"/>
          <a:ext cx="9532803" cy="4446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6777"/>
                <a:gridCol w="1234440"/>
                <a:gridCol w="1234440"/>
                <a:gridCol w="1088502"/>
                <a:gridCol w="1088502"/>
                <a:gridCol w="1088502"/>
                <a:gridCol w="1691640"/>
              </a:tblGrid>
              <a:tr h="365760"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Age Group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Total Tests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Total Camps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A1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A2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A3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Abnormality %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</a:tr>
              <a:tr h="58293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&lt;30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25.61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58293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30-40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141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95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112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20.57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58293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40-50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258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157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174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32.56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58293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50-60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496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225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311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134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37.3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58293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60-70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442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220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270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120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38.91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58293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70-80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184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126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53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45.65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  <a:tr h="58293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80-90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51.61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938443" y="197396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38443" y="1973961"/>
            <a:ext cx="163924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38443" y="255689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38443" y="2556891"/>
            <a:ext cx="131664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38443" y="313982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38443" y="3139821"/>
            <a:ext cx="208410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938443" y="372275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38443" y="3722751"/>
            <a:ext cx="238749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38443" y="430568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38443" y="4305681"/>
            <a:ext cx="249055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38443" y="488861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38443" y="4888611"/>
            <a:ext cx="292196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38443" y="5471541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38443" y="5471541"/>
            <a:ext cx="330345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787878"/>
                </a:solidFill>
              </a:defRPr>
            </a:pPr>
            <a:r>
              <a:t>Neodocs YCS21 • Confidential • Pharma Insights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53796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7878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02020"/>
                </a:solidFill>
              </a:defRPr>
            </a:pPr>
            <a:r>
              <a:t>Genderwise Testing (October 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914400"/>
            <a:ext cx="4572000" cy="64008"/>
          </a:xfrm>
          <a:prstGeom prst="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274320" y="1005840"/>
            <a:ext cx="10241280" cy="4114800"/>
          </a:xfrm>
          <a:prstGeom prst="roundRect">
            <a:avLst/>
          </a:prstGeom>
          <a:solidFill>
            <a:srgbClr val="FCFDFD"/>
          </a:solidFill>
          <a:ln w="12700">
            <a:solidFill>
              <a:srgbClr val="EB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" y="1371600"/>
          <a:ext cx="9532803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6777"/>
                <a:gridCol w="1234440"/>
                <a:gridCol w="1234440"/>
                <a:gridCol w="1088502"/>
                <a:gridCol w="1088502"/>
                <a:gridCol w="1088502"/>
                <a:gridCol w="1691640"/>
              </a:tblGrid>
              <a:tr h="365760"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Gender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Total Tests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Total Camps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A1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A2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A3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Abnormality %</a:t>
                      </a:r>
                    </a:p>
                  </a:txBody>
                  <a:tcPr anchor="ctr">
                    <a:solidFill>
                      <a:srgbClr val="10A8A8"/>
                    </a:solidFill>
                  </a:tcPr>
                </a:tc>
              </a:tr>
              <a:tr h="155448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Male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953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361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589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255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109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38.2</a:t>
                      </a:r>
                    </a:p>
                  </a:txBody>
                  <a:tcPr anchor="ctr">
                    <a:solidFill>
                      <a:srgbClr val="F6FAFA"/>
                    </a:solidFill>
                  </a:tcPr>
                </a:tc>
              </a:tr>
              <a:tr h="1554480"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Female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682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284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455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160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67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>
                        <a:defRPr sz="1400">
                          <a:solidFill>
                            <a:srgbClr val="202020"/>
                          </a:solidFill>
                        </a:defRPr>
                      </a:pPr>
                      <a:r>
                        <a:t>33.28</a:t>
                      </a:r>
                    </a:p>
                  </a:txBody>
                  <a:tcPr anchor="ctr">
                    <a:solidFill>
                      <a:srgbClr val="ECF4F4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938443" y="245973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38443" y="2459736"/>
            <a:ext cx="244510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38443" y="4014216"/>
            <a:ext cx="640080" cy="109728"/>
          </a:xfrm>
          <a:prstGeom prst="roundRect">
            <a:avLst/>
          </a:prstGeom>
          <a:solidFill>
            <a:srgbClr val="EA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38443" y="4014216"/>
            <a:ext cx="213018" cy="109728"/>
          </a:xfrm>
          <a:prstGeom prst="roundRect">
            <a:avLst/>
          </a:prstGeom>
          <a:solidFill>
            <a:srgbClr val="10A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3796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787878"/>
                </a:solidFill>
              </a:defRPr>
            </a:pPr>
            <a:r>
              <a:t>Neodocs YCS21 • Confidential • Pharma Insights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537960"/>
            <a:ext cx="4206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787878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