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83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0332A2-9950-4DF0-BE6D-C8DB458D8B57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365704-E3E4-451D-9B20-ED9CE609D8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8955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644c83cd32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644c83cd32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63bd387c28_0_4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263bd387c28_0_4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2c4cacc583_0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6" name="Google Shape;196;g22c4cacc583_0_23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latin typeface="Helvetica Neue"/>
                <a:ea typeface="Helvetica Neue"/>
                <a:cs typeface="Helvetica Neue"/>
                <a:sym typeface="Helvetica Neue"/>
              </a:rPr>
              <a:t>DON’T FORGET TO SET NEXT STEPS BEFORE LEAVING THE MEETING!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B7947-593C-A396-7BAC-67E649DB4C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ED31E4-A1FC-1E49-60E4-1CF9DF4759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4019D0-31CE-75EC-9340-645758FFB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ABD446-3029-2D2C-4784-3820CCF73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77D3D-56BE-E602-5A65-8546ED111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0394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E4FDA-6219-FC24-7703-B863A8142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470AA-A2ED-CEA7-DE78-7452BCB222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DD2BD5-9F84-F0B6-301C-FFFEC7EA8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7829F2-CF80-A474-70CE-1B3DBFC50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6052CF-E1DB-6546-F241-5FDED0CE3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5566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06B30-1954-EDD0-04B4-829E2E2EF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C596F9-1CC7-2492-CC16-DAC5915FE4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40B5D4-E90E-764A-70BF-8BD40649C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3D3E95-9558-6FB7-42BC-EA1AFA010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1E126E-DE0A-455F-F2F4-439D65579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7586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F1D57-BCED-5BB8-D2D4-42EABBA2A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A45D6-03A8-2423-5778-8D23B98F9E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3D5E9D-D827-66FC-41A6-CE90EC9FDA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D036E7-F086-BDEC-AFDE-F4420DD97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2683AF-F968-3916-B923-264BE5C88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7FFBCC-06D3-16C6-B189-311C022AC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345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9A4ED-97A1-AEEF-C834-05B7967AF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CB650-29F9-5029-D246-6AC5E9B579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61BA69-AA8C-C4E3-C007-BA3B7D0360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F07515-D5FE-1263-84D3-C303C86830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C57E8F-FF2A-121A-1BDA-440C1E0DFD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05B677-AC64-BD1B-07AC-064CA545E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2D8006-610B-D2E1-008C-3BD3A1FD8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4020A6-4C52-45E3-3B76-5DD3435B4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8905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A4DD4-6E8F-F59B-6056-B3A806F2E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5E97ED-9F59-6649-2333-44E3F05A0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428B82-4E0B-1451-DC87-4D93FAF6D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03D336-5488-8179-4F4F-E68B92BE8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0087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7F741E-1AE3-8DA5-4393-6C383D591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ABFCED-B913-B9C8-D7E9-BB1FDAF21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6A285D-F645-10AF-85CC-E7AFA268F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8317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4C6DD-4F97-B62E-C5C9-66B2EA50B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DB199E-3A5C-459A-CB25-FE8C8438B9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E76774-5141-6BD1-7601-31776889C4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F5D428-2D45-1448-D74C-917526BF8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1D02B9-91F9-16F4-018D-E976F3117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D2DADE-4F9F-B6F9-9115-DA604D7F9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4427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1E1DF-718E-42E8-381C-D8E38A7A8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1AD58D-2522-4C5E-7439-444FDB6E9A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9A56D3-749B-236D-58B6-D76BCC780B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AE4725-314C-94B7-4AB1-EC00C2AD5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30705D-56C5-44C9-4C39-9927E09BF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15376E-6135-16F6-DA9E-5E29AFE2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1576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69B51-2783-50DB-41CE-168FB4BE0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1558B7-1150-C999-3D8C-8B7F8BD785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20A289-D7DF-7843-DA0D-B6891585E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E42F3A-AA54-646D-164D-DF1194A2C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4CE39D-F44A-9CE4-C24A-19F69C1D4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5286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A9E8DC-DFE3-645F-6E5B-30232C1AE2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705055-6B29-FDFF-5CF3-31B078E9F0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539951-3E4D-B843-7052-FE80B5CA7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B6D8D9-EC3F-673B-3714-1E9BE8E36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E570D6-EAEE-92DD-2C9E-7665EB95B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4882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BC1590-A7E2-3741-58CB-64370A262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4D1070-A132-EDF7-9A7C-5C2C542A22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34BDF2-0151-9C71-4399-5F716975B3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AFF825-B773-408F-87FD-DA5B0A7544F0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D7FFBC-48ED-4B83-3337-D2BA77C917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3CF6A2-8D80-7141-BCAC-513A42C6E5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6826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clinic.neodocs.in/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mailto:name@email.com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07;p28">
            <a:extLst>
              <a:ext uri="{FF2B5EF4-FFF2-40B4-BE49-F238E27FC236}">
                <a16:creationId xmlns:a16="http://schemas.microsoft.com/office/drawing/2014/main" id="{C57DB77E-FF9F-A265-7C0F-3E7F74099BE4}"/>
              </a:ext>
            </a:extLst>
          </p:cNvPr>
          <p:cNvSpPr/>
          <p:nvPr/>
        </p:nvSpPr>
        <p:spPr>
          <a:xfrm>
            <a:off x="1403858" y="1243231"/>
            <a:ext cx="2511940" cy="613465"/>
          </a:xfrm>
          <a:custGeom>
            <a:avLst/>
            <a:gdLst/>
            <a:ahLst/>
            <a:cxnLst/>
            <a:rect l="l" t="t" r="r" b="b"/>
            <a:pathLst>
              <a:path w="5023879" h="1226930" extrusionOk="0">
                <a:moveTo>
                  <a:pt x="0" y="0"/>
                </a:moveTo>
                <a:lnTo>
                  <a:pt x="5023879" y="0"/>
                </a:lnTo>
                <a:lnTo>
                  <a:pt x="5023879" y="1226931"/>
                </a:lnTo>
                <a:lnTo>
                  <a:pt x="0" y="12269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5" name="Google Shape;108;p28">
            <a:extLst>
              <a:ext uri="{FF2B5EF4-FFF2-40B4-BE49-F238E27FC236}">
                <a16:creationId xmlns:a16="http://schemas.microsoft.com/office/drawing/2014/main" id="{ECE8B48F-6045-330C-F4FD-84993F15F781}"/>
              </a:ext>
            </a:extLst>
          </p:cNvPr>
          <p:cNvGrpSpPr/>
          <p:nvPr/>
        </p:nvGrpSpPr>
        <p:grpSpPr>
          <a:xfrm>
            <a:off x="-1" y="785191"/>
            <a:ext cx="5675243" cy="6063310"/>
            <a:chOff x="0" y="-47625"/>
            <a:chExt cx="2295300" cy="3252300"/>
          </a:xfrm>
        </p:grpSpPr>
        <p:sp>
          <p:nvSpPr>
            <p:cNvPr id="16" name="Google Shape;109;p28">
              <a:extLst>
                <a:ext uri="{FF2B5EF4-FFF2-40B4-BE49-F238E27FC236}">
                  <a16:creationId xmlns:a16="http://schemas.microsoft.com/office/drawing/2014/main" id="{1515941E-2F73-39A9-F6D1-C245EFE9567F}"/>
                </a:ext>
              </a:extLst>
            </p:cNvPr>
            <p:cNvSpPr/>
            <p:nvPr/>
          </p:nvSpPr>
          <p:spPr>
            <a:xfrm>
              <a:off x="0" y="0"/>
              <a:ext cx="2295171" cy="3204568"/>
            </a:xfrm>
            <a:custGeom>
              <a:avLst/>
              <a:gdLst/>
              <a:ahLst/>
              <a:cxnLst/>
              <a:rect l="l" t="t" r="r" b="b"/>
              <a:pathLst>
                <a:path w="2295171" h="3204568" extrusionOk="0">
                  <a:moveTo>
                    <a:pt x="0" y="0"/>
                  </a:moveTo>
                  <a:lnTo>
                    <a:pt x="2295171" y="0"/>
                  </a:lnTo>
                  <a:lnTo>
                    <a:pt x="2295171" y="3204568"/>
                  </a:lnTo>
                  <a:lnTo>
                    <a:pt x="0" y="3204568"/>
                  </a:lnTo>
                  <a:close/>
                </a:path>
              </a:pathLst>
            </a:custGeom>
            <a:solidFill>
              <a:srgbClr val="E0F2FF"/>
            </a:solidFill>
            <a:ln>
              <a:noFill/>
            </a:ln>
          </p:spPr>
        </p:sp>
        <p:sp>
          <p:nvSpPr>
            <p:cNvPr id="17" name="Google Shape;110;p28">
              <a:extLst>
                <a:ext uri="{FF2B5EF4-FFF2-40B4-BE49-F238E27FC236}">
                  <a16:creationId xmlns:a16="http://schemas.microsoft.com/office/drawing/2014/main" id="{C346E127-1C38-BAAE-6A5F-160086CBACDC}"/>
                </a:ext>
              </a:extLst>
            </p:cNvPr>
            <p:cNvSpPr txBox="1"/>
            <p:nvPr/>
          </p:nvSpPr>
          <p:spPr>
            <a:xfrm>
              <a:off x="0" y="-47625"/>
              <a:ext cx="2295300" cy="325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" name="Google Shape;111;p28">
            <a:extLst>
              <a:ext uri="{FF2B5EF4-FFF2-40B4-BE49-F238E27FC236}">
                <a16:creationId xmlns:a16="http://schemas.microsoft.com/office/drawing/2014/main" id="{75F79E9F-3C1E-05FE-8844-D49EA17C3A0C}"/>
              </a:ext>
            </a:extLst>
          </p:cNvPr>
          <p:cNvSpPr/>
          <p:nvPr/>
        </p:nvSpPr>
        <p:spPr>
          <a:xfrm>
            <a:off x="0" y="9499"/>
            <a:ext cx="12191999" cy="885150"/>
          </a:xfrm>
          <a:custGeom>
            <a:avLst/>
            <a:gdLst/>
            <a:ahLst/>
            <a:cxnLst/>
            <a:rect l="l" t="t" r="r" b="b"/>
            <a:pathLst>
              <a:path w="19027352" h="1331915" extrusionOk="0">
                <a:moveTo>
                  <a:pt x="0" y="0"/>
                </a:moveTo>
                <a:lnTo>
                  <a:pt x="19027352" y="0"/>
                </a:lnTo>
                <a:lnTo>
                  <a:pt x="19027352" y="1331914"/>
                </a:lnTo>
                <a:lnTo>
                  <a:pt x="0" y="133191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19" name="Google Shape;112;p28">
            <a:extLst>
              <a:ext uri="{FF2B5EF4-FFF2-40B4-BE49-F238E27FC236}">
                <a16:creationId xmlns:a16="http://schemas.microsoft.com/office/drawing/2014/main" id="{452C1843-49AD-792D-13D8-27FEEAE9EC61}"/>
              </a:ext>
            </a:extLst>
          </p:cNvPr>
          <p:cNvSpPr txBox="1"/>
          <p:nvPr/>
        </p:nvSpPr>
        <p:spPr>
          <a:xfrm>
            <a:off x="3482283" y="258954"/>
            <a:ext cx="527958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MONTHLY</a:t>
            </a:r>
            <a:r>
              <a:rPr lang="en" sz="2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UPDATE - UACR CAMPS</a:t>
            </a:r>
            <a:endParaRPr sz="900" dirty="0"/>
          </a:p>
        </p:txBody>
      </p:sp>
      <p:pic>
        <p:nvPicPr>
          <p:cNvPr id="20" name="Google Shape;113;p28">
            <a:extLst>
              <a:ext uri="{FF2B5EF4-FFF2-40B4-BE49-F238E27FC236}">
                <a16:creationId xmlns:a16="http://schemas.microsoft.com/office/drawing/2014/main" id="{1C21DF73-F2FE-5FC3-E118-31D29DC8C01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3426" y="1378134"/>
            <a:ext cx="3647661" cy="1009393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114;p28">
            <a:extLst>
              <a:ext uri="{FF2B5EF4-FFF2-40B4-BE49-F238E27FC236}">
                <a16:creationId xmlns:a16="http://schemas.microsoft.com/office/drawing/2014/main" id="{76928E46-6041-CCBB-E72F-AF8F9110C892}"/>
              </a:ext>
            </a:extLst>
          </p:cNvPr>
          <p:cNvSpPr txBox="1"/>
          <p:nvPr/>
        </p:nvSpPr>
        <p:spPr>
          <a:xfrm>
            <a:off x="365938" y="5212823"/>
            <a:ext cx="4943046" cy="455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" tIns="9525" rIns="9525" bIns="95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rgbClr val="0B5394"/>
                </a:solidFill>
              </a:rPr>
              <a:t>Instant UACR on any phone </a:t>
            </a:r>
            <a:endParaRPr sz="1600" b="1" dirty="0">
              <a:solidFill>
                <a:srgbClr val="0B5394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rgbClr val="0B5394"/>
                </a:solidFill>
              </a:rPr>
              <a:t>In-clinic + At-home</a:t>
            </a:r>
            <a:endParaRPr sz="1600" b="1" dirty="0">
              <a:solidFill>
                <a:srgbClr val="0B5394"/>
              </a:solidFill>
            </a:endParaRPr>
          </a:p>
        </p:txBody>
      </p:sp>
      <p:pic>
        <p:nvPicPr>
          <p:cNvPr id="22" name="Google Shape;115;p28" title="Asset 4.png">
            <a:extLst>
              <a:ext uri="{FF2B5EF4-FFF2-40B4-BE49-F238E27FC236}">
                <a16:creationId xmlns:a16="http://schemas.microsoft.com/office/drawing/2014/main" id="{96AB6639-D285-F748-867A-421154A1BCB1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75784" y="1156418"/>
            <a:ext cx="4008779" cy="54431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116;p28" title="Bayer_logo-removebg-preview.png">
            <a:extLst>
              <a:ext uri="{FF2B5EF4-FFF2-40B4-BE49-F238E27FC236}">
                <a16:creationId xmlns:a16="http://schemas.microsoft.com/office/drawing/2014/main" id="{4F739043-6A94-DB05-7AF0-2A1D0999D92E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82227" y="2711135"/>
            <a:ext cx="2230058" cy="22114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37467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35165" y="365760"/>
            <a:ext cx="2121670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202020"/>
                </a:solidFill>
              </a:defRPr>
            </a:pPr>
            <a:r>
              <a:rPr sz="3800"/>
              <a:t>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267200" y="1005840"/>
            <a:ext cx="3657600" cy="73152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98461" y="1097280"/>
            <a:ext cx="379507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787878"/>
                </a:solidFill>
              </a:defRPr>
            </a:pPr>
            <a:r>
              <a:rPr sz="1600"/>
              <a:t>High-level summary of testing performance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2400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8440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301240" y="2194561"/>
            <a:ext cx="94045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787878"/>
                </a:solidFill>
              </a:defRPr>
            </a:pPr>
            <a:r>
              <a:rPr sz="1400"/>
              <a:t>Total Tests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9761" y="2651761"/>
            <a:ext cx="1112805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202020"/>
                </a:solidFill>
              </a:defRPr>
            </a:pPr>
            <a:r>
              <a:rPr sz="2600"/>
              <a:t>25,963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2440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0444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501641" y="2194561"/>
            <a:ext cx="106811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787878"/>
                </a:solidFill>
              </a:defRPr>
            </a:pPr>
            <a:r>
              <a:rPr sz="1400"/>
              <a:t>Total Camps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90161" y="2651761"/>
            <a:ext cx="944489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202020"/>
                </a:solidFill>
              </a:defRPr>
            </a:pPr>
            <a:r>
              <a:rPr sz="2600"/>
              <a:t>5,892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2480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2448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02041" y="2194561"/>
            <a:ext cx="114274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787878"/>
                </a:solidFill>
              </a:defRPr>
            </a:pPr>
            <a:r>
              <a:rPr sz="1400"/>
              <a:t>Total Doctors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0561" y="2651761"/>
            <a:ext cx="944489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202020"/>
                </a:solidFill>
              </a:defRPr>
            </a:pPr>
            <a:r>
              <a:rPr sz="2600"/>
              <a:t>1,011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24200" y="388620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3444240" y="416052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901441" y="4114801"/>
            <a:ext cx="161133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787878"/>
                </a:solidFill>
              </a:defRPr>
            </a:pPr>
            <a:r>
              <a:rPr sz="1400"/>
              <a:t>A2+A3 Abnormality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89961" y="4572001"/>
            <a:ext cx="1023037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202020"/>
                </a:solidFill>
              </a:defRPr>
            </a:pPr>
            <a:r>
              <a:rPr sz="2600"/>
              <a:t>34.0%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4600" y="388620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644640" y="416052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01840" y="4114801"/>
            <a:ext cx="127368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787878"/>
                </a:solidFill>
              </a:defRPr>
            </a:pPr>
            <a:r>
              <a:rPr sz="1400"/>
              <a:t>States Covered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90361" y="4572001"/>
            <a:ext cx="521297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202020"/>
                </a:solidFill>
              </a:defRPr>
            </a:pPr>
            <a:r>
              <a:rPr sz="2600"/>
              <a:t>27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08076" y="320041"/>
            <a:ext cx="6375848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Statewise Testing (Till October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5303520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1" y="1371600"/>
          <a:ext cx="9532803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33102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State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Tamil Nadu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5159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1421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3299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1177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683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37.74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Maharashtra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4381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1085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3247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692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442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28.19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West Bengal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3883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482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2555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766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562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36.85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Telangana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3013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469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2199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600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214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30.17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Delhi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2882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719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1779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704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399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40.8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Gujarat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1844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434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1194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393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257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35.95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Karnataka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875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152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639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139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97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30.4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Chhattisgarh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651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531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23.2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Punjab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584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196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405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105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30.65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Uttar Pradesh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523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94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331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38.62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Madhya Pradesh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501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394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23.95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Kerala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305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215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30.82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3114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Andhra Pradesh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240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123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138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42.92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462443" y="1816389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462443" y="1816389"/>
            <a:ext cx="24156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462443" y="214949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462443" y="2149491"/>
            <a:ext cx="18043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462443" y="248259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462444" y="2482593"/>
            <a:ext cx="23586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462443" y="2815695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462443" y="2815695"/>
            <a:ext cx="19311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462443" y="314879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462443" y="3148797"/>
            <a:ext cx="26115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462443" y="3481899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462443" y="3481899"/>
            <a:ext cx="23010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462443" y="381500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462443" y="3815001"/>
            <a:ext cx="19458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462443" y="414810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462443" y="4148103"/>
            <a:ext cx="14849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0462443" y="4481205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462443" y="4481205"/>
            <a:ext cx="19618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0462443" y="481430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0462443" y="4814307"/>
            <a:ext cx="24719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0462443" y="5147409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0462444" y="5147409"/>
            <a:ext cx="15329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0462443" y="548051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10462443" y="5480511"/>
            <a:ext cx="19727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0462443" y="5813619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0462443" y="5813619"/>
            <a:ext cx="27472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48623" y="320041"/>
            <a:ext cx="729475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Speciality Wise Testing (Till October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5303520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1" y="1371600"/>
          <a:ext cx="9532803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8293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Specialization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Diabetologist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7368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1700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5317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1345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706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29.97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General Physician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5554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1115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3796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1200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558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33.54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Internal Medicine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3745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819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2324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919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502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39.2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Endocrinologist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3174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672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2311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547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316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30.69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Others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2332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661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1643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388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301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33.75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Nephrologist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2169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477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1215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403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551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46.01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Cardiologist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1617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446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1088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349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180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33.7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462443" y="219113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462444" y="2191131"/>
            <a:ext cx="191831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462443" y="277406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462443" y="2774061"/>
            <a:ext cx="21468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462443" y="335699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462444" y="3356991"/>
            <a:ext cx="250911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462443" y="393992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462443" y="3939921"/>
            <a:ext cx="19644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462443" y="452285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462444" y="4522851"/>
            <a:ext cx="21602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462443" y="510578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462443" y="5105781"/>
            <a:ext cx="29450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462443" y="568871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462443" y="5688711"/>
            <a:ext cx="21570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33248" y="320041"/>
            <a:ext cx="652550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Age Group Testing (Till October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5303520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1" y="1371600"/>
          <a:ext cx="9532803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Age Group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&lt;30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1781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1151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1281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303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197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30.54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30-40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2826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1602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2078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483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265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29.09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40-50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4917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2369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3561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877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479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29.94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50-60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6911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2869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4764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1384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763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33.31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60-70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6080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2850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3928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1287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865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37.57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70-80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2868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1775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1762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662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444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40.41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80-90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546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453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296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152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98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46.52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&gt;90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34.48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462443" y="209397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462443" y="2093976"/>
            <a:ext cx="19548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462443" y="261213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462444" y="2612136"/>
            <a:ext cx="18619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462443" y="313029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462444" y="3130296"/>
            <a:ext cx="19163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462443" y="364845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462443" y="3648456"/>
            <a:ext cx="21321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462443" y="416661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462443" y="4166616"/>
            <a:ext cx="24047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462443" y="468477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462443" y="4684776"/>
            <a:ext cx="25865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462443" y="520293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462444" y="5202936"/>
            <a:ext cx="297765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462443" y="572109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462444" y="5721096"/>
            <a:ext cx="22069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13504" y="320041"/>
            <a:ext cx="676499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Genderwise Testing (Till October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5303520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1" y="1371600"/>
          <a:ext cx="9532803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55448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Gender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448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Male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15005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4653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10083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3077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1845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34.9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5448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Female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10958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3822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7611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2077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1270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32.95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462443" y="364845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462444" y="3648456"/>
            <a:ext cx="22338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462443" y="520293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462443" y="5202936"/>
            <a:ext cx="21090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84987" y="2697480"/>
            <a:ext cx="4822026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202020"/>
                </a:solidFill>
              </a:defRPr>
            </a:pPr>
            <a:r>
              <a:rPr sz="4000"/>
              <a:t>October 2025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40762" y="3520440"/>
            <a:ext cx="291047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787878"/>
                </a:solidFill>
              </a:defRPr>
            </a:pPr>
            <a:r>
              <a:rPr sz="2000"/>
              <a:t>2025-10-01 to 2025-10-31</a:t>
            </a:r>
          </a:p>
        </p:txBody>
      </p:sp>
      <p:sp>
        <p:nvSpPr>
          <p:cNvPr id="4" name="Rectangle 3"/>
          <p:cNvSpPr/>
          <p:nvPr/>
        </p:nvSpPr>
        <p:spPr>
          <a:xfrm>
            <a:off x="4267200" y="4251960"/>
            <a:ext cx="3657600" cy="73152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7838" y="320041"/>
            <a:ext cx="577632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Statewise Testing (October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5303520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1" y="1371600"/>
          <a:ext cx="9532803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33102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State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Tamil Nadu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579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126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342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179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40.93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Maharashtra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221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152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31.22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Gujarat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141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43.97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Punjab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122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91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25.41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West Bengal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35.59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Telangana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105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24.76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Uttar Pradesh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46.05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Delhi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44.44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Chhattisgarh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32.0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Karnataka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15.0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Rajasthan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28.57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Goa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31.82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3114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Kerala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22.73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462443" y="1816389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462443" y="1816389"/>
            <a:ext cx="26198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462443" y="214949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462443" y="2149491"/>
            <a:ext cx="19983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462443" y="248259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462444" y="2482593"/>
            <a:ext cx="281443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462443" y="2815695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462443" y="2815695"/>
            <a:ext cx="16264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462443" y="314879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462443" y="3148797"/>
            <a:ext cx="22780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462443" y="3481899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462444" y="3481899"/>
            <a:ext cx="158483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462443" y="381500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462443" y="3815001"/>
            <a:ext cx="29475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462443" y="414810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462444" y="4148103"/>
            <a:ext cx="284451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0462443" y="4481205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462444" y="4481205"/>
            <a:ext cx="204825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0462443" y="481430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0462443" y="4814307"/>
            <a:ext cx="9601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0462443" y="5147409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0462443" y="5147409"/>
            <a:ext cx="18287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0462443" y="548051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10462444" y="5480511"/>
            <a:ext cx="203673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0462443" y="5813619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0462443" y="5813619"/>
            <a:ext cx="14549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8385" y="320041"/>
            <a:ext cx="669523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Speciality Wise Testing (October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5303520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1" y="1371600"/>
          <a:ext cx="9532803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Specialization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Diabetologist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503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144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368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101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26.84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Internal Medicine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376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184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141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51.06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General Physician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297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193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35.02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Endocrinologist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169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30.77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Nephrologist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103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47.57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Not Known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94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32.98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Cardiologist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28.57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Others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24.24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462443" y="209397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462444" y="2093976"/>
            <a:ext cx="17179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462443" y="261213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462443" y="2612136"/>
            <a:ext cx="32682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462443" y="313029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462443" y="3130296"/>
            <a:ext cx="22415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462443" y="364845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462443" y="3648456"/>
            <a:ext cx="19695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462443" y="416661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462443" y="4166616"/>
            <a:ext cx="30448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462443" y="468477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462443" y="4684776"/>
            <a:ext cx="21109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462443" y="520293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462443" y="5202936"/>
            <a:ext cx="18287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462443" y="572109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462444" y="5721096"/>
            <a:ext cx="155155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33010" y="320041"/>
            <a:ext cx="592598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Age Group Testing (October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5303520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1" y="1371600"/>
          <a:ext cx="9532803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8293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Age Group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&lt;30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25.61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30-40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141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95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20.57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40-50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258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157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174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32.56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50-60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496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225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311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134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37.3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60-70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442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220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270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120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38.91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70-80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184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126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45.65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80-90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51.61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462443" y="219113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462443" y="2191131"/>
            <a:ext cx="16392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462443" y="277406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462443" y="2774061"/>
            <a:ext cx="13166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462443" y="335699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462443" y="3356991"/>
            <a:ext cx="20841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462443" y="393992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462444" y="3939921"/>
            <a:ext cx="23874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462443" y="452285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462444" y="4522851"/>
            <a:ext cx="249055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462443" y="510578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462443" y="5105781"/>
            <a:ext cx="29219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462443" y="568871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462444" y="5688711"/>
            <a:ext cx="330345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13265" y="320041"/>
            <a:ext cx="616547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Genderwise Testing (October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5303520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1" y="1371600"/>
          <a:ext cx="9532803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55448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Gender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448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Male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953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361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589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255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109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38.2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5448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Female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682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284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455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160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33.28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462443" y="364845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462443" y="3648456"/>
            <a:ext cx="24451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462443" y="520293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462443" y="5202936"/>
            <a:ext cx="21301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02158" y="6537960"/>
            <a:ext cx="30008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9"/>
          <p:cNvSpPr txBox="1"/>
          <p:nvPr/>
        </p:nvSpPr>
        <p:spPr>
          <a:xfrm>
            <a:off x="107400" y="103668"/>
            <a:ext cx="9431600" cy="677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2800">
                <a:solidFill>
                  <a:srgbClr val="0B5394"/>
                </a:solidFill>
              </a:rPr>
              <a:t>Doctor / Clinic Dashboard </a:t>
            </a:r>
            <a:endParaRPr sz="2800">
              <a:solidFill>
                <a:srgbClr val="0B5394"/>
              </a:solidFill>
            </a:endParaRPr>
          </a:p>
        </p:txBody>
      </p:sp>
      <p:sp>
        <p:nvSpPr>
          <p:cNvPr id="180" name="Google Shape;180;p39"/>
          <p:cNvSpPr txBox="1"/>
          <p:nvPr/>
        </p:nvSpPr>
        <p:spPr>
          <a:xfrm>
            <a:off x="586333" y="825734"/>
            <a:ext cx="10742000" cy="584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150000"/>
              </a:lnSpc>
            </a:pPr>
            <a:endParaRPr sz="1467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81" name="Google Shape;181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534" y="896167"/>
            <a:ext cx="8175828" cy="4638824"/>
          </a:xfrm>
          <a:prstGeom prst="rect">
            <a:avLst/>
          </a:prstGeom>
          <a:noFill/>
          <a:ln w="9525" cap="flat" cmpd="sng">
            <a:solidFill>
              <a:srgbClr val="151F5B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82" name="Google Shape;182;p39"/>
          <p:cNvSpPr txBox="1"/>
          <p:nvPr/>
        </p:nvSpPr>
        <p:spPr>
          <a:xfrm>
            <a:off x="8485133" y="896167"/>
            <a:ext cx="3556800" cy="5213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609585" indent="-397923">
              <a:lnSpc>
                <a:spcPct val="200000"/>
              </a:lnSpc>
              <a:buSzPts val="1100"/>
              <a:buFont typeface="Verdana"/>
              <a:buChar char="●"/>
            </a:pPr>
            <a:r>
              <a:rPr lang="en" sz="1467">
                <a:latin typeface="Verdana"/>
                <a:ea typeface="Verdana"/>
                <a:cs typeface="Verdana"/>
                <a:sym typeface="Verdana"/>
              </a:rPr>
              <a:t>Doctors can login on laptop / desktop for easy access</a:t>
            </a:r>
            <a:endParaRPr sz="1467">
              <a:latin typeface="Verdana"/>
              <a:ea typeface="Verdana"/>
              <a:cs typeface="Verdana"/>
              <a:sym typeface="Verdana"/>
            </a:endParaRPr>
          </a:p>
          <a:p>
            <a:pPr marL="609585" indent="-397923">
              <a:lnSpc>
                <a:spcPct val="200000"/>
              </a:lnSpc>
              <a:buSzPts val="1100"/>
              <a:buFont typeface="Verdana"/>
              <a:buChar char="●"/>
            </a:pPr>
            <a:r>
              <a:rPr lang="en" sz="1467">
                <a:latin typeface="Verdana"/>
                <a:ea typeface="Verdana"/>
                <a:cs typeface="Verdana"/>
                <a:sym typeface="Verdana"/>
              </a:rPr>
              <a:t>Can view, print and download report </a:t>
            </a:r>
            <a:endParaRPr sz="1467">
              <a:latin typeface="Verdana"/>
              <a:ea typeface="Verdana"/>
              <a:cs typeface="Verdana"/>
              <a:sym typeface="Verdana"/>
            </a:endParaRPr>
          </a:p>
          <a:p>
            <a:pPr marL="609585" indent="-397923">
              <a:lnSpc>
                <a:spcPct val="200000"/>
              </a:lnSpc>
              <a:buSzPts val="1100"/>
              <a:buFont typeface="Verdana"/>
              <a:buChar char="●"/>
            </a:pPr>
            <a:r>
              <a:rPr lang="en" sz="1467">
                <a:latin typeface="Verdana"/>
                <a:ea typeface="Verdana"/>
                <a:cs typeface="Verdana"/>
                <a:sym typeface="Verdana"/>
              </a:rPr>
              <a:t>Clinic level Kdigo Map</a:t>
            </a:r>
            <a:endParaRPr sz="1467">
              <a:latin typeface="Verdana"/>
              <a:ea typeface="Verdana"/>
              <a:cs typeface="Verdana"/>
              <a:sym typeface="Verdana"/>
            </a:endParaRPr>
          </a:p>
          <a:p>
            <a:pPr marL="609585" indent="-397923">
              <a:lnSpc>
                <a:spcPct val="200000"/>
              </a:lnSpc>
              <a:buSzPts val="1100"/>
              <a:buFont typeface="Verdana"/>
              <a:buChar char="●"/>
            </a:pPr>
            <a:r>
              <a:rPr lang="en" sz="1467">
                <a:latin typeface="Verdana"/>
                <a:ea typeface="Verdana"/>
                <a:cs typeface="Verdana"/>
                <a:sym typeface="Verdana"/>
              </a:rPr>
              <a:t>Clinic Users (doctor or staff) info </a:t>
            </a:r>
            <a:endParaRPr sz="1467">
              <a:latin typeface="Verdana"/>
              <a:ea typeface="Verdana"/>
              <a:cs typeface="Verdana"/>
              <a:sym typeface="Verdana"/>
            </a:endParaRPr>
          </a:p>
          <a:p>
            <a:pPr marL="609585" indent="-397923">
              <a:lnSpc>
                <a:spcPct val="200000"/>
              </a:lnSpc>
              <a:buSzPts val="1100"/>
              <a:buFont typeface="Verdana"/>
              <a:buChar char="●"/>
            </a:pPr>
            <a:r>
              <a:rPr lang="en" sz="1467">
                <a:latin typeface="Verdana"/>
                <a:ea typeface="Verdana"/>
                <a:cs typeface="Verdana"/>
                <a:sym typeface="Verdana"/>
              </a:rPr>
              <a:t>Multi-organization access function</a:t>
            </a:r>
            <a:endParaRPr sz="1467">
              <a:latin typeface="Verdana"/>
              <a:ea typeface="Verdana"/>
              <a:cs typeface="Verdana"/>
              <a:sym typeface="Verdana"/>
            </a:endParaRPr>
          </a:p>
          <a:p>
            <a:pPr marL="609585" indent="-397923">
              <a:lnSpc>
                <a:spcPct val="200000"/>
              </a:lnSpc>
              <a:buSzPts val="1100"/>
              <a:buFont typeface="Verdana"/>
              <a:buChar char="●"/>
            </a:pPr>
            <a:r>
              <a:rPr lang="en" sz="1467">
                <a:latin typeface="Verdana"/>
                <a:ea typeface="Verdana"/>
                <a:cs typeface="Verdana"/>
                <a:sym typeface="Verdana"/>
              </a:rPr>
              <a:t>Data filter by age, gender, date, ACR etc.</a:t>
            </a:r>
            <a:endParaRPr sz="1467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83" name="Google Shape;183;p39"/>
          <p:cNvSpPr txBox="1"/>
          <p:nvPr/>
        </p:nvSpPr>
        <p:spPr>
          <a:xfrm>
            <a:off x="2336451" y="5923501"/>
            <a:ext cx="4000000" cy="615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en" sz="2400" u="sng">
                <a:solidFill>
                  <a:schemeClr val="hlink"/>
                </a:solidFill>
                <a:hlinkClick r:id="rId4"/>
              </a:rPr>
              <a:t>https://clinic.neodocs.in/</a:t>
            </a:r>
            <a:r>
              <a:rPr lang="en" sz="2400"/>
              <a:t> </a:t>
            </a:r>
            <a:endParaRPr sz="2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0"/>
          <p:cNvSpPr txBox="1"/>
          <p:nvPr/>
        </p:nvSpPr>
        <p:spPr>
          <a:xfrm>
            <a:off x="107400" y="103668"/>
            <a:ext cx="9431600" cy="677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2800">
                <a:solidFill>
                  <a:srgbClr val="0B5394"/>
                </a:solidFill>
              </a:rPr>
              <a:t>Features: Dr-NeoDocs App Dashboard</a:t>
            </a:r>
            <a:endParaRPr sz="2800">
              <a:solidFill>
                <a:srgbClr val="0B5394"/>
              </a:solidFill>
            </a:endParaRPr>
          </a:p>
        </p:txBody>
      </p:sp>
      <p:grpSp>
        <p:nvGrpSpPr>
          <p:cNvPr id="189" name="Google Shape;189;p40"/>
          <p:cNvGrpSpPr/>
          <p:nvPr/>
        </p:nvGrpSpPr>
        <p:grpSpPr>
          <a:xfrm>
            <a:off x="6134433" y="780867"/>
            <a:ext cx="5441984" cy="5670735"/>
            <a:chOff x="152400" y="738050"/>
            <a:chExt cx="4081488" cy="4253051"/>
          </a:xfrm>
        </p:grpSpPr>
        <p:pic>
          <p:nvPicPr>
            <p:cNvPr id="190" name="Google Shape;190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2400" y="738050"/>
              <a:ext cx="1964544" cy="4253051"/>
            </a:xfrm>
            <a:prstGeom prst="rect">
              <a:avLst/>
            </a:prstGeom>
            <a:noFill/>
            <a:ln w="9525" cap="flat" cmpd="sng">
              <a:solidFill>
                <a:srgbClr val="0F0C67"/>
              </a:solidFill>
              <a:prstDash val="solid"/>
              <a:round/>
              <a:headEnd type="none" w="sm" len="sm"/>
              <a:tailEnd type="none" w="sm" len="sm"/>
            </a:ln>
          </p:spPr>
        </p:pic>
        <p:pic>
          <p:nvPicPr>
            <p:cNvPr id="191" name="Google Shape;191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269344" y="738050"/>
              <a:ext cx="1964544" cy="4253051"/>
            </a:xfrm>
            <a:prstGeom prst="rect">
              <a:avLst/>
            </a:prstGeom>
            <a:noFill/>
            <a:ln w="9525" cap="flat" cmpd="sng">
              <a:solidFill>
                <a:srgbClr val="151F5B"/>
              </a:solidFill>
              <a:prstDash val="solid"/>
              <a:round/>
              <a:headEnd type="none" w="sm" len="sm"/>
              <a:tailEnd type="none" w="sm" len="sm"/>
            </a:ln>
          </p:spPr>
        </p:pic>
      </p:grpSp>
      <p:pic>
        <p:nvPicPr>
          <p:cNvPr id="192" name="Google Shape;192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28654" y="780867"/>
            <a:ext cx="2619380" cy="5670735"/>
          </a:xfrm>
          <a:prstGeom prst="rect">
            <a:avLst/>
          </a:prstGeom>
          <a:noFill/>
          <a:ln w="9525" cap="flat" cmpd="sng">
            <a:solidFill>
              <a:srgbClr val="0F0C67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93" name="Google Shape;193;p4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2901" y="780884"/>
            <a:ext cx="2619367" cy="5670693"/>
          </a:xfrm>
          <a:prstGeom prst="rect">
            <a:avLst/>
          </a:prstGeom>
          <a:noFill/>
          <a:ln w="9525" cap="flat" cmpd="sng">
            <a:solidFill>
              <a:srgbClr val="0F0C67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41"/>
          <p:cNvSpPr txBox="1">
            <a:spLocks noGrp="1"/>
          </p:cNvSpPr>
          <p:nvPr>
            <p:ph type="title"/>
          </p:nvPr>
        </p:nvSpPr>
        <p:spPr>
          <a:xfrm>
            <a:off x="889000" y="2239592"/>
            <a:ext cx="10414000" cy="2324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25400" tIns="25400" rIns="25400" bIns="25400" rtlCol="0" anchor="b" anchorCtr="0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5600"/>
            </a:pPr>
            <a:r>
              <a:rPr lang="en" sz="7466" b="1">
                <a:solidFill>
                  <a:srgbClr val="0B539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Thank you!</a:t>
            </a:r>
            <a:endParaRPr sz="667">
              <a:solidFill>
                <a:srgbClr val="0B5394"/>
              </a:solidFill>
            </a:endParaRPr>
          </a:p>
        </p:txBody>
      </p:sp>
      <p:sp>
        <p:nvSpPr>
          <p:cNvPr id="199" name="Google Shape;199;p41"/>
          <p:cNvSpPr txBox="1"/>
          <p:nvPr/>
        </p:nvSpPr>
        <p:spPr>
          <a:xfrm>
            <a:off x="2264281" y="5187784"/>
            <a:ext cx="7663600" cy="11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/>
          </a:bodyPr>
          <a:lstStyle/>
          <a:p>
            <a:pPr algn="ctr">
              <a:buClr>
                <a:srgbClr val="000000"/>
              </a:buClr>
              <a:buSzPts val="3800"/>
            </a:pPr>
            <a:endParaRPr sz="5067" u="sng">
              <a:solidFill>
                <a:schemeClr val="hlink"/>
              </a:solidFill>
              <a:latin typeface="Helvetica Neue"/>
              <a:ea typeface="Helvetica Neue"/>
              <a:cs typeface="Helvetica Neue"/>
              <a:sym typeface="Helvetica Neue"/>
              <a:hlinkClick r:id="rId3"/>
            </a:endParaRPr>
          </a:p>
        </p:txBody>
      </p:sp>
      <p:pic>
        <p:nvPicPr>
          <p:cNvPr id="200" name="Google Shape;200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63985" y="957834"/>
            <a:ext cx="7589367" cy="185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41"/>
          <p:cNvSpPr txBox="1">
            <a:spLocks noGrp="1"/>
          </p:cNvSpPr>
          <p:nvPr>
            <p:ph type="body" idx="1"/>
          </p:nvPr>
        </p:nvSpPr>
        <p:spPr>
          <a:xfrm>
            <a:off x="2264267" y="5086200"/>
            <a:ext cx="8205600" cy="847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25400" tIns="25400" rIns="25400" bIns="25400" rtlCol="0" anchor="t" anchorCtr="0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buClr>
                <a:srgbClr val="424242"/>
              </a:buClr>
              <a:buSzPts val="3800"/>
            </a:pPr>
            <a:r>
              <a:rPr lang="en" sz="1867">
                <a:solidFill>
                  <a:srgbClr val="212121"/>
                </a:solidFill>
              </a:rPr>
              <a:t>Contact Us: </a:t>
            </a:r>
            <a:endParaRPr sz="1867">
              <a:solidFill>
                <a:srgbClr val="212121"/>
              </a:solidFill>
            </a:endParaRPr>
          </a:p>
          <a:p>
            <a:pPr>
              <a:lnSpc>
                <a:spcPct val="115000"/>
              </a:lnSpc>
              <a:spcBef>
                <a:spcPts val="0"/>
              </a:spcBef>
              <a:buClr>
                <a:srgbClr val="424242"/>
              </a:buClr>
              <a:buSzPts val="3800"/>
            </a:pPr>
            <a:endParaRPr sz="1867">
              <a:solidFill>
                <a:srgbClr val="212121"/>
              </a:solidFill>
            </a:endParaRPr>
          </a:p>
          <a:p>
            <a:pPr>
              <a:lnSpc>
                <a:spcPct val="115000"/>
              </a:lnSpc>
              <a:spcBef>
                <a:spcPts val="0"/>
              </a:spcBef>
              <a:buClr>
                <a:srgbClr val="424242"/>
              </a:buClr>
              <a:buSzPts val="3800"/>
            </a:pPr>
            <a:r>
              <a:rPr lang="en" sz="1867">
                <a:solidFill>
                  <a:srgbClr val="212121"/>
                </a:solidFill>
              </a:rPr>
              <a:t>Rajendra Bhaskar +91 99873 39111</a:t>
            </a:r>
            <a:endParaRPr sz="1867">
              <a:solidFill>
                <a:srgbClr val="212121"/>
              </a:solidFill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buClr>
                <a:srgbClr val="424242"/>
              </a:buClr>
              <a:buSzPts val="3800"/>
            </a:pPr>
            <a:endParaRPr sz="1867">
              <a:solidFill>
                <a:srgbClr val="21212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791</Words>
  <Application>Microsoft Office PowerPoint</Application>
  <PresentationFormat>Widescreen</PresentationFormat>
  <Paragraphs>537</Paragraphs>
  <Slides>14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Calibri Light</vt:lpstr>
      <vt:lpstr>Helvetica Neue</vt:lpstr>
      <vt:lpstr>Poppins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PARTHIBA MUKHOPADHYAY</dc:creator>
  <cp:lastModifiedBy>PARTHIBA MUKHOPADHYAY</cp:lastModifiedBy>
  <cp:revision>4</cp:revision>
  <dcterms:created xsi:type="dcterms:W3CDTF">2025-11-20T10:32:54Z</dcterms:created>
  <dcterms:modified xsi:type="dcterms:W3CDTF">2025-11-25T12:17:33Z</dcterms:modified>
</cp:coreProperties>
</file>