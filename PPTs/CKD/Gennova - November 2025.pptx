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EC75D0-B7B8-402F-BEE9-CDCA6F719476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8961B-AAAC-4410-AF1C-00B628360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418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ECF03E53-727E-8CA3-205B-FC0E1CF0C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>
            <a:extLst>
              <a:ext uri="{FF2B5EF4-FFF2-40B4-BE49-F238E27FC236}">
                <a16:creationId xmlns:a16="http://schemas.microsoft.com/office/drawing/2014/main" id="{6871DD35-9278-4A04-E297-17183DBBA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>
            <a:extLst>
              <a:ext uri="{FF2B5EF4-FFF2-40B4-BE49-F238E27FC236}">
                <a16:creationId xmlns:a16="http://schemas.microsoft.com/office/drawing/2014/main" id="{902076E1-22D3-FAD9-2AEF-2625B1B4C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054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63bd387c28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63bd387c28_0_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c4cacc58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22c4cacc583_0_2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Helvetica Neue"/>
                <a:ea typeface="Helvetica Neue"/>
                <a:cs typeface="Helvetica Neue"/>
                <a:sym typeface="Helvetica Neue"/>
              </a:rPr>
              <a:t>DON’T FORGET TO SET NEXT STEPS BEFORE LEAVING THE MEETING!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kddashboard.neodocs.in/daily_overview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linic.neodocs.in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mail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UACR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14;p28">
            <a:extLst>
              <a:ext uri="{FF2B5EF4-FFF2-40B4-BE49-F238E27FC236}">
                <a16:creationId xmlns:a16="http://schemas.microsoft.com/office/drawing/2014/main" id="{76928E46-6041-CCBB-E72F-AF8F9110C892}"/>
              </a:ext>
            </a:extLst>
          </p:cNvPr>
          <p:cNvSpPr txBox="1"/>
          <p:nvPr/>
        </p:nvSpPr>
        <p:spPr>
          <a:xfrm>
            <a:off x="365938" y="5212823"/>
            <a:ext cx="4943046" cy="455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" tIns="9525" rIns="9525" bIns="9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Instant UACR on any phone </a:t>
            </a:r>
            <a:endParaRPr sz="1600" b="1" dirty="0">
              <a:solidFill>
                <a:srgbClr val="0B5394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In-clinic + At-home</a:t>
            </a:r>
            <a:endParaRPr sz="1600" b="1" dirty="0">
              <a:solidFill>
                <a:srgbClr val="0B5394"/>
              </a:solidFill>
            </a:endParaRPr>
          </a:p>
        </p:txBody>
      </p:sp>
      <p:pic>
        <p:nvPicPr>
          <p:cNvPr id="22" name="Google Shape;115;p28" title="Asset 4.png">
            <a:extLst>
              <a:ext uri="{FF2B5EF4-FFF2-40B4-BE49-F238E27FC236}">
                <a16:creationId xmlns:a16="http://schemas.microsoft.com/office/drawing/2014/main" id="{96AB6639-D285-F748-867A-421154A1BCB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784" y="1156418"/>
            <a:ext cx="4008779" cy="544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0;p13">
            <a:extLst>
              <a:ext uri="{FF2B5EF4-FFF2-40B4-BE49-F238E27FC236}">
                <a16:creationId xmlns:a16="http://schemas.microsoft.com/office/drawing/2014/main" id="{23A84854-775D-5880-CCBF-BBF752CB0CA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348" y="3252033"/>
            <a:ext cx="4518451" cy="1129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5165" y="365760"/>
            <a:ext cx="212167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02020"/>
                </a:solidFill>
              </a:defRPr>
            </a:pPr>
            <a:r>
              <a:rPr sz="3800"/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2112" y="265176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77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2512" y="265176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2912" y="265176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8582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A2+A3 Abnormality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6870" y="4572001"/>
            <a:ext cx="3529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1428" y="320041"/>
            <a:ext cx="69491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Jammu And Kashmir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Odisha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973961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556891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3139821"/>
            <a:ext cx="3840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3722751"/>
            <a:ext cx="6400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4305681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4888611"/>
            <a:ext cx="64008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3" y="5471541"/>
            <a:ext cx="64008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1233" y="320041"/>
            <a:ext cx="67295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245331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1"/>
          <a:ext cx="9532803" cy="4605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Kochi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Tiruchirappalli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Coimbatore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Srinagar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Cuttack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Lucknow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395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Pune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89447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894470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31841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318419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74236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2742368"/>
            <a:ext cx="6400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316631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4" y="3166317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359026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3590266"/>
            <a:ext cx="51206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401421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4014215"/>
            <a:ext cx="4224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4438164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3" y="4438164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48621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3" y="4862113"/>
            <a:ext cx="64008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5286062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3" y="5286062"/>
            <a:ext cx="64008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462443" y="5710012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62443" y="5710012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2317" y="320041"/>
            <a:ext cx="77073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5034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3863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226542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4" y="2265426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343128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4" y="3431286"/>
            <a:ext cx="5760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459714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4597146"/>
            <a:ext cx="4224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6942" y="320041"/>
            <a:ext cx="69381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8" y="1973961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9" y="2556891"/>
            <a:ext cx="5760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44378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44378" y="3139821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44378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44379" y="3722751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44378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44379" y="4305681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44378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44378" y="4888611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44378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44378" y="5471541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9067" y="320041"/>
            <a:ext cx="73338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9" y="2459736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9" y="4014216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7513" y="2697480"/>
            <a:ext cx="53369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02020"/>
                </a:solidFill>
              </a:defRPr>
            </a:pPr>
            <a:r>
              <a:rPr sz="4000"/>
              <a:t>November 2025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0762" y="3520440"/>
            <a:ext cx="29104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7878"/>
                </a:solidFill>
              </a:defRPr>
            </a:pPr>
            <a:r>
              <a:rPr sz="2000"/>
              <a:t>01-11-2025 to 30-11-2025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425196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6270" y="2651761"/>
            <a:ext cx="3529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6670" y="2651761"/>
            <a:ext cx="3529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7070" y="2651761"/>
            <a:ext cx="3529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8582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A2+A3 Abnormality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6870" y="4572001"/>
            <a:ext cx="3529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2290" y="457201"/>
            <a:ext cx="46274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November 2025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1189" y="320041"/>
            <a:ext cx="63496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333756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28483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2848356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0995" y="320041"/>
            <a:ext cx="61300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333756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28483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2848356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2079" y="320041"/>
            <a:ext cx="71078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333756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28483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2848356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703" y="320041"/>
            <a:ext cx="63385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736592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214884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8" y="2148840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30815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3081528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44378" y="4014216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44378" y="4946904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44378" y="4946904"/>
            <a:ext cx="64008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8828" y="320041"/>
            <a:ext cx="67343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8" y="2459736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4014216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4;p24">
            <a:extLst>
              <a:ext uri="{FF2B5EF4-FFF2-40B4-BE49-F238E27FC236}">
                <a16:creationId xmlns:a16="http://schemas.microsoft.com/office/drawing/2014/main" id="{B69B25A1-A05C-E6CF-B098-3CD9FB1AE39E}"/>
              </a:ext>
            </a:extLst>
          </p:cNvPr>
          <p:cNvSpPr txBox="1">
            <a:spLocks/>
          </p:cNvSpPr>
          <p:nvPr/>
        </p:nvSpPr>
        <p:spPr>
          <a:xfrm>
            <a:off x="1238932" y="1919888"/>
            <a:ext cx="9714136" cy="2261667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b="1"/>
              <a:t>For more insights, login here:</a:t>
            </a:r>
          </a:p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u="sng">
                <a:solidFill>
                  <a:schemeClr val="hlink"/>
                </a:solidFill>
                <a:hlinkClick r:id="rId3"/>
              </a:rPr>
              <a:t>https://ckddashboard.neodocs.in/</a:t>
            </a:r>
            <a:endParaRPr lang="en-US" sz="49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357A30F0-EA41-57B2-42C3-A6B3CE67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9">
            <a:extLst>
              <a:ext uri="{FF2B5EF4-FFF2-40B4-BE49-F238E27FC236}">
                <a16:creationId xmlns:a16="http://schemas.microsoft.com/office/drawing/2014/main" id="{1B3D3489-FF61-E0A4-036A-C329D9A27680}"/>
              </a:ext>
            </a:extLst>
          </p:cNvPr>
          <p:cNvSpPr txBox="1"/>
          <p:nvPr/>
        </p:nvSpPr>
        <p:spPr>
          <a:xfrm>
            <a:off x="107400" y="103668"/>
            <a:ext cx="9431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rgbClr val="0B5394"/>
                </a:solidFill>
              </a:rPr>
              <a:t>Doctor / Clinic Dashboard </a:t>
            </a:r>
            <a:endParaRPr sz="2800">
              <a:solidFill>
                <a:srgbClr val="0B5394"/>
              </a:solidFill>
            </a:endParaRPr>
          </a:p>
        </p:txBody>
      </p:sp>
      <p:sp>
        <p:nvSpPr>
          <p:cNvPr id="180" name="Google Shape;180;p39">
            <a:extLst>
              <a:ext uri="{FF2B5EF4-FFF2-40B4-BE49-F238E27FC236}">
                <a16:creationId xmlns:a16="http://schemas.microsoft.com/office/drawing/2014/main" id="{8857933E-177D-AA52-8B55-2E3546A414C7}"/>
              </a:ext>
            </a:extLst>
          </p:cNvPr>
          <p:cNvSpPr txBox="1"/>
          <p:nvPr/>
        </p:nvSpPr>
        <p:spPr>
          <a:xfrm>
            <a:off x="586333" y="825734"/>
            <a:ext cx="10742000" cy="58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0000"/>
              </a:lnSpc>
            </a:pPr>
            <a:endParaRPr sz="1467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1" name="Google Shape;181;p39">
            <a:extLst>
              <a:ext uri="{FF2B5EF4-FFF2-40B4-BE49-F238E27FC236}">
                <a16:creationId xmlns:a16="http://schemas.microsoft.com/office/drawing/2014/main" id="{7EA30656-6539-BB25-13CD-BA574EF710E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34" y="896167"/>
            <a:ext cx="8175828" cy="4638824"/>
          </a:xfrm>
          <a:prstGeom prst="rect">
            <a:avLst/>
          </a:prstGeom>
          <a:noFill/>
          <a:ln w="9525" cap="flat" cmpd="sng">
            <a:solidFill>
              <a:srgbClr val="151F5B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2" name="Google Shape;182;p39">
            <a:extLst>
              <a:ext uri="{FF2B5EF4-FFF2-40B4-BE49-F238E27FC236}">
                <a16:creationId xmlns:a16="http://schemas.microsoft.com/office/drawing/2014/main" id="{36346B32-88CC-6AE5-80C5-40DF336ACE87}"/>
              </a:ext>
            </a:extLst>
          </p:cNvPr>
          <p:cNvSpPr txBox="1"/>
          <p:nvPr/>
        </p:nvSpPr>
        <p:spPr>
          <a:xfrm>
            <a:off x="8485133" y="896167"/>
            <a:ext cx="3556800" cy="5213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Doctors can login on laptop / desktop for easy access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Can view, print and download report 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Clinic level Kdigo Map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Clinic Users (doctor or staff) info 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Multi-organization access function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Data filter by age, gender, date, ACR etc.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3" name="Google Shape;183;p39">
            <a:extLst>
              <a:ext uri="{FF2B5EF4-FFF2-40B4-BE49-F238E27FC236}">
                <a16:creationId xmlns:a16="http://schemas.microsoft.com/office/drawing/2014/main" id="{EE479E83-C8A0-3DF3-406D-1E3F5929A47A}"/>
              </a:ext>
            </a:extLst>
          </p:cNvPr>
          <p:cNvSpPr txBox="1"/>
          <p:nvPr/>
        </p:nvSpPr>
        <p:spPr>
          <a:xfrm>
            <a:off x="2336451" y="5923501"/>
            <a:ext cx="4000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 u="sng">
                <a:solidFill>
                  <a:schemeClr val="hlink"/>
                </a:solidFill>
                <a:hlinkClick r:id="rId4"/>
              </a:rPr>
              <a:t>https://clinic.neodocs.in/</a:t>
            </a:r>
            <a:r>
              <a:rPr lang="en" sz="2400"/>
              <a:t> 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221426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0"/>
          <p:cNvSpPr txBox="1"/>
          <p:nvPr/>
        </p:nvSpPr>
        <p:spPr>
          <a:xfrm>
            <a:off x="107400" y="103668"/>
            <a:ext cx="9431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rgbClr val="0B5394"/>
                </a:solidFill>
              </a:rPr>
              <a:t>Features: Dr-NeoDocs App Dashboard</a:t>
            </a:r>
            <a:endParaRPr sz="2800">
              <a:solidFill>
                <a:srgbClr val="0B5394"/>
              </a:solidFill>
            </a:endParaRPr>
          </a:p>
        </p:txBody>
      </p:sp>
      <p:grpSp>
        <p:nvGrpSpPr>
          <p:cNvPr id="189" name="Google Shape;189;p40"/>
          <p:cNvGrpSpPr/>
          <p:nvPr/>
        </p:nvGrpSpPr>
        <p:grpSpPr>
          <a:xfrm>
            <a:off x="6134433" y="780867"/>
            <a:ext cx="5441984" cy="5670735"/>
            <a:chOff x="152400" y="738050"/>
            <a:chExt cx="4081488" cy="4253051"/>
          </a:xfrm>
        </p:grpSpPr>
        <p:pic>
          <p:nvPicPr>
            <p:cNvPr id="190" name="Google Shape;19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0F0C67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1" name="Google Shape;19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69344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151F5B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pic>
        <p:nvPicPr>
          <p:cNvPr id="192" name="Google Shape;19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8654" y="780867"/>
            <a:ext cx="2619380" cy="5670735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3" name="Google Shape;193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2901" y="780884"/>
            <a:ext cx="2619367" cy="5670693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889000" y="2239592"/>
            <a:ext cx="10414000" cy="23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5600"/>
            </a:pPr>
            <a:r>
              <a:rPr lang="en" sz="7466" b="1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667">
              <a:solidFill>
                <a:srgbClr val="0B5394"/>
              </a:solidFill>
            </a:endParaRPr>
          </a:p>
        </p:txBody>
      </p:sp>
      <p:sp>
        <p:nvSpPr>
          <p:cNvPr id="199" name="Google Shape;199;p41"/>
          <p:cNvSpPr txBox="1"/>
          <p:nvPr/>
        </p:nvSpPr>
        <p:spPr>
          <a:xfrm>
            <a:off x="2264281" y="5187784"/>
            <a:ext cx="7663600" cy="1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algn="ctr">
              <a:buClr>
                <a:srgbClr val="000000"/>
              </a:buClr>
              <a:buSzPts val="3800"/>
            </a:pPr>
            <a:endParaRPr sz="5067" u="sng">
              <a:solidFill>
                <a:schemeClr val="hlink"/>
              </a:solidFill>
              <a:latin typeface="Helvetica Neue"/>
              <a:ea typeface="Helvetica Neue"/>
              <a:cs typeface="Helvetica Neue"/>
              <a:sym typeface="Helvetica Neue"/>
              <a:hlinkClick r:id="rId3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985" y="957834"/>
            <a:ext cx="7589367" cy="185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2264267" y="5086200"/>
            <a:ext cx="8205600" cy="84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Contact Us: </a:t>
            </a: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Rajendra Bhaskar +91 99873 39111</a:t>
            </a:r>
            <a:endParaRPr sz="1867">
              <a:solidFill>
                <a:srgbClr val="21212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749</Words>
  <Application>Microsoft Office PowerPoint</Application>
  <PresentationFormat>Widescreen</PresentationFormat>
  <Paragraphs>400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Helvetica Neue</vt:lpstr>
      <vt:lpstr>Poppins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10</cp:revision>
  <dcterms:created xsi:type="dcterms:W3CDTF">2025-11-20T10:32:54Z</dcterms:created>
  <dcterms:modified xsi:type="dcterms:W3CDTF">2025-12-03T09:20:49Z</dcterms:modified>
</cp:coreProperties>
</file>