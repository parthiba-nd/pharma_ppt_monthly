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049CF-E192-43C5-8786-6AAA8278943E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EB988-92EE-49BD-99DB-438BEFDF0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775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CF03E53-727E-8CA3-205B-FC0E1CF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>
            <a:extLst>
              <a:ext uri="{FF2B5EF4-FFF2-40B4-BE49-F238E27FC236}">
                <a16:creationId xmlns:a16="http://schemas.microsoft.com/office/drawing/2014/main" id="{6871DD35-9278-4A04-E297-17183DBBA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>
            <a:extLst>
              <a:ext uri="{FF2B5EF4-FFF2-40B4-BE49-F238E27FC236}">
                <a16:creationId xmlns:a16="http://schemas.microsoft.com/office/drawing/2014/main" id="{902076E1-22D3-FAD9-2AEF-2625B1B4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linic.neodocs.i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90;p13">
            <a:extLst>
              <a:ext uri="{FF2B5EF4-FFF2-40B4-BE49-F238E27FC236}">
                <a16:creationId xmlns:a16="http://schemas.microsoft.com/office/drawing/2014/main" id="{3876A942-3E97-386D-0DA0-3B68420BB00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8868" y="2671240"/>
            <a:ext cx="2336775" cy="2336775"/>
          </a:xfrm>
          <a:prstGeom prst="rect">
            <a:avLst/>
          </a:prstGeom>
          <a:solidFill>
            <a:srgbClr val="BBD6EE">
              <a:alpha val="67060"/>
            </a:srgbClr>
          </a:solidFill>
          <a:ln w="952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165" y="365760"/>
            <a:ext cx="212167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02020"/>
                </a:solidFill>
              </a:defRPr>
            </a:pPr>
            <a:r>
              <a:rPr sz="3800"/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516" y="2651761"/>
            <a:ext cx="94448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1,904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3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381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87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147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6870" y="457200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1428" y="320041"/>
            <a:ext cx="69491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202936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56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Chhattisgarh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Goa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91566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91566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38201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4" y="2382012"/>
            <a:ext cx="8961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84835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2848356"/>
            <a:ext cx="172821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331470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3314700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378104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3781044"/>
            <a:ext cx="22402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42473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4247388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4713732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4713732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518007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5180076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564642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4" y="5646420"/>
            <a:ext cx="7680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1233" y="320041"/>
            <a:ext cx="67295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Hubballi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Davangere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Cuttack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Guntur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Tirupati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Bhubaneswar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Karimnagar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Balasore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Sambalpur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Mancherial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Vellore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Thiruvananthapuram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28228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19693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2411158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702623"/>
            <a:ext cx="9601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2994088"/>
            <a:ext cx="4480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285553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577018"/>
            <a:ext cx="21122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4" y="3868483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4" y="4159948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4" y="4451413"/>
            <a:ext cx="28163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4" y="4742878"/>
            <a:ext cx="10881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4" y="5034343"/>
            <a:ext cx="34564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325808"/>
            <a:ext cx="1920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62443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62443" y="5617273"/>
            <a:ext cx="3264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462443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462443" y="5908738"/>
            <a:ext cx="30723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2317" y="320041"/>
            <a:ext cx="77073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862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Nephrologist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Internal Medicine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01559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681803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34800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4014213"/>
            <a:ext cx="17922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4680418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4" y="5346626"/>
            <a:ext cx="2560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6942" y="320041"/>
            <a:ext cx="69381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332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463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355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424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1973961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2556891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3139821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9" y="3722751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8" y="4305681"/>
            <a:ext cx="1920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4888611"/>
            <a:ext cx="32004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8" y="5471541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9067" y="320041"/>
            <a:ext cx="733386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(Till 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1256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648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473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2459736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4014216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7513" y="2697480"/>
            <a:ext cx="53369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02020"/>
                </a:solidFill>
              </a:defRPr>
            </a:pPr>
            <a:r>
              <a:rPr sz="4000"/>
              <a:t>November 2025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40762" y="3520440"/>
            <a:ext cx="29104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87878"/>
                </a:solidFill>
              </a:defRPr>
            </a:pPr>
            <a:r>
              <a:rPr sz="2000"/>
              <a:t>01-11-2025 to 30-11-2025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425196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7200" y="1005840"/>
            <a:ext cx="3657600" cy="73152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8461" y="1097280"/>
            <a:ext cx="37950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rPr sz="1600"/>
              <a:t>High-level summary of testing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40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440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1240" y="2194560"/>
            <a:ext cx="10617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7954" y="2651761"/>
            <a:ext cx="6896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44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444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1641" y="2194560"/>
            <a:ext cx="1212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Camps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2512" y="265176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39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0" y="196596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44840" y="224028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02040" y="2194560"/>
            <a:ext cx="1303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Total Doctors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2912" y="2651761"/>
            <a:ext cx="5212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42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42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01441" y="4114800"/>
            <a:ext cx="18582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A2+A3 Abnormality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0484" y="4572001"/>
            <a:ext cx="7649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26%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4600" y="3886200"/>
            <a:ext cx="2743200" cy="1417320"/>
          </a:xfrm>
          <a:prstGeom prst="roundRect">
            <a:avLst/>
          </a:prstGeom>
          <a:solidFill>
            <a:srgbClr val="E4F8F8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44640" y="4160520"/>
            <a:ext cx="320040" cy="320040"/>
          </a:xfrm>
          <a:prstGeom prst="ellipse">
            <a:avLst/>
          </a:prstGeom>
          <a:noFill/>
          <a:ln w="25400">
            <a:solidFill>
              <a:srgbClr val="1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01840" y="4114800"/>
            <a:ext cx="14510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</a:defRPr>
            </a:pPr>
            <a:r>
              <a:rPr sz="1600"/>
              <a:t>States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6870" y="4572001"/>
            <a:ext cx="3529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02020"/>
                </a:solidFill>
              </a:defRPr>
            </a:pPr>
            <a:r>
              <a:rPr sz="2600"/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2290" y="457201"/>
            <a:ext cx="46274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November 2025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1189" y="320041"/>
            <a:ext cx="6349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State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00307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36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Karnataka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Odisha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Telangana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Kerala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57%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Andhra Pradesh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01559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015598"/>
            <a:ext cx="1600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68180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681803"/>
            <a:ext cx="7040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33480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3" y="3348008"/>
            <a:ext cx="2560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0142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4" y="4014213"/>
            <a:ext cx="268833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46804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4" y="4680418"/>
            <a:ext cx="36484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534662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5346626"/>
            <a:ext cx="42245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9866" y="6537960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0995" y="320041"/>
            <a:ext cx="61300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City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1"/>
            <a:ext cx="10241280" cy="5377815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1"/>
          <a:ext cx="9532803" cy="4737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Orgcity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Davangere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Hubballi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Madurai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Vellore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Bhubaneswar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Balasore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Thanjavur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Karimnagar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Thiruvananthapuram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Kattakada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Tambaram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Tirunelveli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18282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1828228"/>
            <a:ext cx="8321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211969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2119693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241115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2411158"/>
            <a:ext cx="153619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270262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2702623"/>
            <a:ext cx="6400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2443" y="299408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462443" y="2994088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462443" y="328555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462443" y="3285553"/>
            <a:ext cx="14721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443" y="357701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2443" y="3577018"/>
            <a:ext cx="40325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462443" y="386848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62443" y="3868483"/>
            <a:ext cx="44805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62443" y="415994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462443" y="4159948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462443" y="445141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462444" y="4451413"/>
            <a:ext cx="14081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62443" y="474287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462443" y="4742878"/>
            <a:ext cx="53126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462443" y="503434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462443" y="5034343"/>
            <a:ext cx="53126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62443" y="532580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462443" y="5325808"/>
            <a:ext cx="38404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62443" y="5617273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462443" y="5617273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462443" y="590873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462443" y="5908738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42079" y="320041"/>
            <a:ext cx="7107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Speciality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736592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1" y="1371600"/>
          <a:ext cx="9532803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Specialization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Total Camps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Diabetologist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Urologist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General Physician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Others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462443" y="2148840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62443" y="2148840"/>
            <a:ext cx="198424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462443" y="3081528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462443" y="3081528"/>
            <a:ext cx="70408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62443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62444" y="4014216"/>
            <a:ext cx="20482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462443" y="4946904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62443" y="4946904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703" y="320041"/>
            <a:ext cx="633859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Age Group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508635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444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Age Group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&lt;30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30-40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40-50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26%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50-60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60-70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70-80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80-90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197396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8" y="1973961"/>
            <a:ext cx="1344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255689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9" y="2556891"/>
            <a:ext cx="217627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44378" y="313982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44378" y="3139821"/>
            <a:ext cx="16642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44378" y="372275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44378" y="3722751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44378" y="430568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044378" y="4305681"/>
            <a:ext cx="128016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44378" y="488861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44378" y="4888611"/>
            <a:ext cx="262432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44378" y="5471541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44378" y="5471541"/>
            <a:ext cx="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28828" y="320041"/>
            <a:ext cx="673434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02020"/>
                </a:solidFill>
              </a:defRPr>
            </a:pPr>
            <a:r>
              <a:rPr sz="3200"/>
              <a:t>Gender Wise Testing (November 2025)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800" y="914400"/>
            <a:ext cx="4572000" cy="64008"/>
          </a:xfrm>
          <a:prstGeom prst="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249680" y="1005840"/>
            <a:ext cx="10241280" cy="4114800"/>
          </a:xfrm>
          <a:prstGeom prst="roundRect">
            <a:avLst/>
          </a:prstGeom>
          <a:solidFill>
            <a:srgbClr val="FCFDFD"/>
          </a:solidFill>
          <a:ln w="12700">
            <a:solidFill>
              <a:srgbClr val="EB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5440" y="1371600"/>
          <a:ext cx="911473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6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Total Tests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Abnormality %</a:t>
                      </a:r>
                    </a:p>
                  </a:txBody>
                  <a:tcPr anchor="ctr">
                    <a:solidFill>
                      <a:srgbClr val="1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Male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19%</a:t>
                      </a:r>
                    </a:p>
                  </a:txBody>
                  <a:tcPr anchor="ctr">
                    <a:solidFill>
                      <a:srgbClr val="F6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Female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202020"/>
                          </a:solidFill>
                        </a:defRPr>
                      </a:pPr>
                      <a:r>
                        <a:t>38%</a:t>
                      </a:r>
                    </a:p>
                  </a:txBody>
                  <a:tcPr anchor="ctr">
                    <a:solidFill>
                      <a:srgbClr val="EC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044378" y="245973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44379" y="2459736"/>
            <a:ext cx="121615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44378" y="4014216"/>
            <a:ext cx="640080" cy="109728"/>
          </a:xfrm>
          <a:prstGeom prst="roundRect">
            <a:avLst/>
          </a:prstGeom>
          <a:solidFill>
            <a:srgbClr val="EA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44378" y="4014216"/>
            <a:ext cx="243230" cy="109728"/>
          </a:xfrm>
          <a:prstGeom prst="roundRect">
            <a:avLst/>
          </a:prstGeom>
          <a:solidFill>
            <a:srgbClr val="1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9761" y="6537960"/>
            <a:ext cx="27879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87878"/>
                </a:solidFill>
              </a:defRPr>
            </a:pPr>
            <a:r>
              <a:rPr sz="900"/>
              <a:t>Neodocs YCS21 • Confidential • Pharma Insights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2158" y="6537960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7878"/>
                </a:solidFill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1238932" y="1919888"/>
            <a:ext cx="9714136" cy="2261667"/>
          </a:xfrm>
          <a:prstGeom prst="rect">
            <a:avLst/>
          </a:prstGeom>
        </p:spPr>
        <p:txBody>
          <a:bodyPr spcFirstLastPara="1" wrap="square" lIns="121900" tIns="60933" rIns="121900" bIns="60933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333"/>
              </a:spcBef>
            </a:pPr>
            <a:r>
              <a:rPr lang="en-US" sz="4933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49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357A30F0-EA41-57B2-42C3-A6B3CE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>
            <a:extLst>
              <a:ext uri="{FF2B5EF4-FFF2-40B4-BE49-F238E27FC236}">
                <a16:creationId xmlns:a16="http://schemas.microsoft.com/office/drawing/2014/main" id="{1B3D3489-FF61-E0A4-036A-C329D9A27680}"/>
              </a:ext>
            </a:extLst>
          </p:cNvPr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Doctor / Clinic Dashboard </a:t>
            </a:r>
            <a:endParaRPr sz="2800">
              <a:solidFill>
                <a:srgbClr val="0B5394"/>
              </a:solidFill>
            </a:endParaRPr>
          </a:p>
        </p:txBody>
      </p:sp>
      <p:sp>
        <p:nvSpPr>
          <p:cNvPr id="180" name="Google Shape;180;p39">
            <a:extLst>
              <a:ext uri="{FF2B5EF4-FFF2-40B4-BE49-F238E27FC236}">
                <a16:creationId xmlns:a16="http://schemas.microsoft.com/office/drawing/2014/main" id="{8857933E-177D-AA52-8B55-2E3546A414C7}"/>
              </a:ext>
            </a:extLst>
          </p:cNvPr>
          <p:cNvSpPr txBox="1"/>
          <p:nvPr/>
        </p:nvSpPr>
        <p:spPr>
          <a:xfrm>
            <a:off x="586333" y="825734"/>
            <a:ext cx="10742000" cy="58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0000"/>
              </a:lnSpc>
            </a:pP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>
            <a:extLst>
              <a:ext uri="{FF2B5EF4-FFF2-40B4-BE49-F238E27FC236}">
                <a16:creationId xmlns:a16="http://schemas.microsoft.com/office/drawing/2014/main" id="{7EA30656-6539-BB25-13CD-BA574EF71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34" y="896167"/>
            <a:ext cx="8175828" cy="4638824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>
            <a:extLst>
              <a:ext uri="{FF2B5EF4-FFF2-40B4-BE49-F238E27FC236}">
                <a16:creationId xmlns:a16="http://schemas.microsoft.com/office/drawing/2014/main" id="{36346B32-88CC-6AE5-80C5-40DF336ACE87}"/>
              </a:ext>
            </a:extLst>
          </p:cNvPr>
          <p:cNvSpPr txBox="1"/>
          <p:nvPr/>
        </p:nvSpPr>
        <p:spPr>
          <a:xfrm>
            <a:off x="8485133" y="896167"/>
            <a:ext cx="3556800" cy="5213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  <a:p>
            <a:pPr marL="609585" indent="-397923">
              <a:lnSpc>
                <a:spcPct val="200000"/>
              </a:lnSpc>
              <a:buSzPts val="1100"/>
              <a:buFont typeface="Verdana"/>
              <a:buChar char="●"/>
            </a:pPr>
            <a:r>
              <a:rPr lang="en" sz="1467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467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>
            <a:extLst>
              <a:ext uri="{FF2B5EF4-FFF2-40B4-BE49-F238E27FC236}">
                <a16:creationId xmlns:a16="http://schemas.microsoft.com/office/drawing/2014/main" id="{EE479E83-C8A0-3DF3-406D-1E3F5929A47A}"/>
              </a:ext>
            </a:extLst>
          </p:cNvPr>
          <p:cNvSpPr txBox="1"/>
          <p:nvPr/>
        </p:nvSpPr>
        <p:spPr>
          <a:xfrm>
            <a:off x="2336451" y="5923501"/>
            <a:ext cx="40000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 sz="2400"/>
              <a:t> 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142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107400" y="103668"/>
            <a:ext cx="9431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rgbClr val="0B5394"/>
                </a:solidFill>
              </a:rPr>
              <a:t>Features: Dr-NeoDocs App Dashboard</a:t>
            </a:r>
            <a:endParaRPr sz="28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6134433" y="780867"/>
            <a:ext cx="5441984" cy="5670735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8654" y="780867"/>
            <a:ext cx="2619380" cy="5670735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2901" y="780884"/>
            <a:ext cx="2619367" cy="5670693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889000" y="2239592"/>
            <a:ext cx="10414000" cy="2324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5600"/>
            </a:pPr>
            <a:r>
              <a:rPr lang="en" sz="7466" b="1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667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2264281" y="5187784"/>
            <a:ext cx="7663600" cy="1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rmAutofit/>
          </a:bodyPr>
          <a:lstStyle/>
          <a:p>
            <a:pPr algn="ctr">
              <a:buClr>
                <a:srgbClr val="000000"/>
              </a:buClr>
              <a:buSzPts val="3800"/>
            </a:pPr>
            <a:endParaRPr sz="5067" u="sng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3985" y="957834"/>
            <a:ext cx="7589367" cy="185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2264267" y="5086200"/>
            <a:ext cx="8205600" cy="84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Contact Us: </a:t>
            </a: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r>
              <a:rPr lang="en" sz="1867">
                <a:solidFill>
                  <a:srgbClr val="212121"/>
                </a:solidFill>
              </a:rPr>
              <a:t>Rajendra Bhaskar +91 99873 39111</a:t>
            </a:r>
            <a:endParaRPr sz="1867">
              <a:solidFill>
                <a:srgbClr val="212121"/>
              </a:solidFill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buClr>
                <a:srgbClr val="424242"/>
              </a:buClr>
              <a:buSzPts val="3800"/>
            </a:pPr>
            <a:endParaRPr sz="1867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1028</Words>
  <Application>Microsoft Office PowerPoint</Application>
  <PresentationFormat>Widescreen</PresentationFormat>
  <Paragraphs>641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Poppins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9</cp:revision>
  <dcterms:created xsi:type="dcterms:W3CDTF">2025-11-20T10:32:54Z</dcterms:created>
  <dcterms:modified xsi:type="dcterms:W3CDTF">2025-12-03T09:19:24Z</dcterms:modified>
</cp:coreProperties>
</file>